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923" cy="146304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0"/>
            <a:ext cx="3047923" cy="146304"/>
          </a:xfrm>
          <a:prstGeom prst="rect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0"/>
            <a:ext cx="3047923" cy="146304"/>
          </a:xfrm>
          <a:prstGeom prst="rect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0"/>
            <a:ext cx="3047923" cy="146304"/>
          </a:xfrm>
          <a:prstGeom prst="rect">
            <a:avLst/>
          </a:prstGeom>
          <a:solidFill>
            <a:srgbClr val="7A4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0A82E"/>
                </a:solidFill>
                <a:latin typeface="Lexend"/>
              </a:rPr>
              <a:t>RARE NSW  ·  CO-DESIGN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 i="0">
                <a:solidFill>
                  <a:srgbClr val="FFFFFF"/>
                </a:solidFill>
                <a:latin typeface="Lexend"/>
              </a:rPr>
              <a:t>Designing Better,</a:t>
            </a:r>
          </a:p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E0A82E"/>
                </a:solidFill>
                <a:latin typeface="Lexend"/>
              </a:rPr>
              <a:t>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11480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CED6E2"/>
                </a:solidFill>
                <a:latin typeface="Source Sans 3"/>
              </a:rPr>
              <a:t>A co-design workshop for the rare disease community in New South Wales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5212080"/>
            <a:ext cx="3840480" cy="0"/>
          </a:xfrm>
          <a:prstGeom prst="bentConnector3">
            <a:avLst/>
          </a:prstGeom>
          <a:ln w="19050">
            <a:solidFill>
              <a:srgbClr val="2135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53949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Source Sans 3"/>
              </a:rPr>
              <a:t>Facilitated by Rare NSW · Kris Pierce Consulting</a:t>
            </a:r>
          </a:p>
          <a:p>
            <a:pPr algn="l"/>
            <a:r>
              <a:rPr sz="1250" b="0" i="0">
                <a:solidFill>
                  <a:srgbClr val="9DAABD"/>
                </a:solidFill>
                <a:latin typeface="Source Sans 3"/>
              </a:rPr>
              <a:t>Framework: The Systemic Design Practice — Emma Blomkamp / New Know How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1280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64A"/>
                </a:solidFill>
                <a:latin typeface="Lexend"/>
              </a:rPr>
              <a:t>ACKNOWLEDGEMENT OF COUNTRY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1874519"/>
            <a:ext cx="102412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600"/>
              </a:spcAft>
            </a:pPr>
            <a:r>
              <a:rPr sz="2700" b="1" i="0">
                <a:solidFill>
                  <a:srgbClr val="1A2230"/>
                </a:solidFill>
                <a:latin typeface="Lexend"/>
              </a:rPr>
              <a:t>We acknowledge the Traditional Custodians of the lands on which we meet, and pay our respects to Elders past and present.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95468"/>
                </a:solidFill>
                <a:latin typeface="Source Sans 3"/>
              </a:rPr>
              <a:t>We recognise that caring for community, listening deeply, and making decisions together are practices First Nations peoples have held for tens of thousands of years — and that good co-design has much to learn from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95468"/>
                </a:solidFill>
                <a:latin typeface="Source Sans 3"/>
              </a:rPr>
              <a:t>Rare Diseases NSW Co-Design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1206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A64A"/>
                </a:solidFill>
                <a:latin typeface="Lexend"/>
              </a:rPr>
              <a:t>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50976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A2230"/>
                </a:solidFill>
                <a:latin typeface="Lexend"/>
              </a:rPr>
              <a:t>Why we're here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495468"/>
                </a:solidFill>
                <a:latin typeface="Source Sans 3"/>
              </a:rPr>
              <a:t>Rare conditions are individually rare but collectively common — and the people who live with them hold knowledge no system can design without.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2230"/>
                </a:solidFill>
                <a:latin typeface="Lexend"/>
              </a:rPr>
              <a:t>Our aim for the day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3291839"/>
            <a:ext cx="146304" cy="146304"/>
          </a:xfrm>
          <a:prstGeom prst="ellipse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3209544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A2230"/>
                </a:solidFill>
                <a:latin typeface="Source Sans 3"/>
              </a:rPr>
              <a:t>Build a shared language for how we work together — co-design.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968496"/>
            <a:ext cx="146304" cy="146304"/>
          </a:xfrm>
          <a:prstGeom prst="ellipse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388620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A2230"/>
                </a:solidFill>
                <a:latin typeface="Source Sans 3"/>
              </a:rPr>
              <a:t>Pressure-test an established framework against the reality of rare disease.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645152"/>
            <a:ext cx="146304" cy="146304"/>
          </a:xfrm>
          <a:prstGeom prst="ellipse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4562856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A2230"/>
                </a:solidFill>
                <a:latin typeface="Source Sans 3"/>
              </a:rPr>
              <a:t>Agree how we'll behave together — our Code of Care.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321808"/>
            <a:ext cx="146304" cy="146304"/>
          </a:xfrm>
          <a:prstGeom prst="ellipse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5239512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A2230"/>
                </a:solidFill>
                <a:latin typeface="Source Sans 3"/>
              </a:rPr>
              <a:t>Leave with first, concrete steps for Rare Diseases NSW.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1783080"/>
            <a:ext cx="4766767" cy="4114800"/>
          </a:xfrm>
          <a:prstGeom prst="roundRect">
            <a:avLst>
              <a:gd name="adj" fmla="val 4000"/>
            </a:avLst>
          </a:prstGeom>
          <a:solidFill>
            <a:srgbClr val="15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148840"/>
            <a:ext cx="39438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0A82E"/>
                </a:solidFill>
                <a:latin typeface="Lexend"/>
              </a:rPr>
              <a:t>SUCCESS LOOKS LIKE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697480"/>
            <a:ext cx="39438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E0A82E"/>
                </a:solidFill>
                <a:latin typeface="Lexend"/>
              </a:rPr>
              <a:t>→  </a:t>
            </a:r>
            <a:r>
              <a:rPr sz="1450" b="1" i="0">
                <a:solidFill>
                  <a:srgbClr val="FFFFFF"/>
                </a:solidFill>
                <a:latin typeface="Lexend"/>
              </a:rPr>
              <a:t>Everyone contributes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BEC8D6"/>
                </a:solidFill>
                <a:latin typeface="Source Sans 3"/>
              </a:rPr>
              <a:t>Lived experience, practice wisdom and evidence all in the room.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483864"/>
            <a:ext cx="39438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E0A82E"/>
                </a:solidFill>
                <a:latin typeface="Lexend"/>
              </a:rPr>
              <a:t>→  </a:t>
            </a:r>
            <a:r>
              <a:rPr sz="1450" b="1" i="0">
                <a:solidFill>
                  <a:srgbClr val="FFFFFF"/>
                </a:solidFill>
                <a:latin typeface="Lexend"/>
              </a:rPr>
              <a:t>Honest, not polished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BEC8D6"/>
                </a:solidFill>
                <a:latin typeface="Source Sans 3"/>
              </a:rPr>
              <a:t>We name what doesn't fit for rare disease.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4270248"/>
            <a:ext cx="39438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E0A82E"/>
                </a:solidFill>
                <a:latin typeface="Lexend"/>
              </a:rPr>
              <a:t>→  </a:t>
            </a:r>
            <a:r>
              <a:rPr sz="1450" b="1" i="0">
                <a:solidFill>
                  <a:srgbClr val="FFFFFF"/>
                </a:solidFill>
                <a:latin typeface="Lexend"/>
              </a:rPr>
              <a:t>A framework that's ours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BEC8D6"/>
                </a:solidFill>
                <a:latin typeface="Source Sans 3"/>
              </a:rPr>
              <a:t>Adapted, not adopted off the shelf.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5056632"/>
            <a:ext cx="394380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E0A82E"/>
                </a:solidFill>
                <a:latin typeface="Lexend"/>
              </a:rPr>
              <a:t>→  </a:t>
            </a:r>
            <a:r>
              <a:rPr sz="1450" b="1" i="0">
                <a:solidFill>
                  <a:srgbClr val="FFFFFF"/>
                </a:solidFill>
                <a:latin typeface="Lexend"/>
              </a:rPr>
              <a:t>Momentum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BEC8D6"/>
                </a:solidFill>
                <a:latin typeface="Source Sans 3"/>
              </a:rPr>
              <a:t>Clear owners and next steps before we leave.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95468"/>
                </a:solidFill>
                <a:latin typeface="Source Sans 3"/>
              </a:rPr>
              <a:t>Rare Diseases NSW Co-Design Workshop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5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1206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5243A"/>
                </a:solidFill>
                <a:latin typeface="Lexend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50976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A2230"/>
                </a:solidFill>
                <a:latin typeface="Lexend"/>
              </a:rPr>
              <a:t>How today 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03120"/>
            <a:ext cx="2028687" cy="310896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103120"/>
            <a:ext cx="2028687" cy="128016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395727"/>
            <a:ext cx="16263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0A82E"/>
                </a:solidFill>
                <a:latin typeface="Lexen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063239"/>
            <a:ext cx="16263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A2230"/>
                </a:solidFill>
                <a:latin typeface="Lexend"/>
              </a:rPr>
              <a:t>Ground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9536" y="3520439"/>
            <a:ext cx="1626351" cy="0"/>
          </a:xfrm>
          <a:prstGeom prst="bentConnector3">
            <a:avLst/>
          </a:prstGeom>
          <a:ln w="12700">
            <a:solidFill>
              <a:srgbClr val="E2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9536" y="3657600"/>
            <a:ext cx="162635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495468"/>
                </a:solidFill>
                <a:latin typeface="Source Sans 3"/>
              </a:rPr>
              <a:t>Welcome, aim of the day, and what we mean by co-design.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9935" y="2103120"/>
            <a:ext cx="2028687" cy="310896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69935" y="2103120"/>
            <a:ext cx="2028687" cy="128016"/>
          </a:xfrm>
          <a:prstGeom prst="rect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1103" y="2395727"/>
            <a:ext cx="16263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A64A"/>
                </a:solidFill>
                <a:latin typeface="Lexen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1103" y="3063239"/>
            <a:ext cx="16263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A2230"/>
                </a:solidFill>
                <a:latin typeface="Lexend"/>
              </a:rPr>
              <a:t>Present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71103" y="3520439"/>
            <a:ext cx="1626352" cy="0"/>
          </a:xfrm>
          <a:prstGeom prst="bentConnector3">
            <a:avLst/>
          </a:prstGeom>
          <a:ln w="12700">
            <a:solidFill>
              <a:srgbClr val="E2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071103" y="3657600"/>
            <a:ext cx="162635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495468"/>
                </a:solidFill>
                <a:latin typeface="Source Sans 3"/>
              </a:rPr>
              <a:t>Walk through the current framework — principles &amp; the four domains.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1503" y="2103120"/>
            <a:ext cx="2028687" cy="310896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81503" y="2103120"/>
            <a:ext cx="2028687" cy="128016"/>
          </a:xfrm>
          <a:prstGeom prst="rect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2671" y="2395727"/>
            <a:ext cx="16263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8591C"/>
                </a:solidFill>
                <a:latin typeface="Lexen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2671" y="3063239"/>
            <a:ext cx="16263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A2230"/>
                </a:solidFill>
                <a:latin typeface="Lexend"/>
              </a:rPr>
              <a:t>Test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82671" y="3520439"/>
            <a:ext cx="1626352" cy="0"/>
          </a:xfrm>
          <a:prstGeom prst="bentConnector3">
            <a:avLst/>
          </a:prstGeom>
          <a:ln w="12700">
            <a:solidFill>
              <a:srgbClr val="E2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82671" y="3657600"/>
            <a:ext cx="162635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495468"/>
                </a:solidFill>
                <a:latin typeface="Source Sans 3"/>
              </a:rPr>
              <a:t>Do these make sense? What's missing for rare disease? — discussion.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3071" y="2103120"/>
            <a:ext cx="2028687" cy="310896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93071" y="2103120"/>
            <a:ext cx="2028687" cy="128016"/>
          </a:xfrm>
          <a:prstGeom prst="rect">
            <a:avLst/>
          </a:prstGeom>
          <a:solidFill>
            <a:srgbClr val="7A4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4239" y="2395727"/>
            <a:ext cx="16263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7A45D6"/>
                </a:solidFill>
                <a:latin typeface="Lexen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4239" y="3063239"/>
            <a:ext cx="16263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A2230"/>
                </a:solidFill>
                <a:latin typeface="Lexend"/>
              </a:rPr>
              <a:t>Agree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94239" y="3520439"/>
            <a:ext cx="1626352" cy="0"/>
          </a:xfrm>
          <a:prstGeom prst="bentConnector3">
            <a:avLst/>
          </a:prstGeom>
          <a:ln w="12700">
            <a:solidFill>
              <a:srgbClr val="E2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94239" y="3657600"/>
            <a:ext cx="162635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495468"/>
                </a:solidFill>
                <a:latin typeface="Source Sans 3"/>
              </a:rPr>
              <a:t>Co-create our Code of Care and map where we are.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4639" y="2103120"/>
            <a:ext cx="2028687" cy="310896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4639" y="2103120"/>
            <a:ext cx="2028687" cy="128016"/>
          </a:xfrm>
          <a:prstGeom prst="rect">
            <a:avLst/>
          </a:prstGeom>
          <a:solidFill>
            <a:srgbClr val="15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05807" y="2395727"/>
            <a:ext cx="16263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5243A"/>
                </a:solidFill>
                <a:latin typeface="Lexend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5807" y="3063239"/>
            <a:ext cx="16263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A2230"/>
                </a:solidFill>
                <a:latin typeface="Lexend"/>
              </a:rPr>
              <a:t>Forward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05807" y="3520439"/>
            <a:ext cx="1626352" cy="0"/>
          </a:xfrm>
          <a:prstGeom prst="bentConnector3">
            <a:avLst/>
          </a:prstGeom>
          <a:ln w="12700">
            <a:solidFill>
              <a:srgbClr val="E2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705807" y="3657600"/>
            <a:ext cx="162635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495468"/>
                </a:solidFill>
                <a:latin typeface="Source Sans 3"/>
              </a:rPr>
              <a:t>First steps for Rare Diseases NSW — the 'how to'.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95468"/>
                </a:solidFill>
                <a:latin typeface="Source Sans 3"/>
              </a:rPr>
              <a:t>Rare Diseases NSW Co-Design Workshop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0A82E"/>
                </a:solidFill>
                <a:latin typeface="Lexend"/>
              </a:rPr>
              <a:t>OUR SUGGESTED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FFFFFF"/>
                </a:solidFill>
                <a:latin typeface="Lexend"/>
              </a:rPr>
              <a:t>Start from what exists — then make it fit rare disease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23160"/>
            <a:ext cx="2526715" cy="2834640"/>
          </a:xfrm>
          <a:prstGeom prst="roundRect">
            <a:avLst>
              <a:gd name="adj" fmla="val 5000"/>
            </a:avLst>
          </a:prstGeom>
          <a:solidFill>
            <a:srgbClr val="21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4231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Lexen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81528"/>
            <a:ext cx="20695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Lexend"/>
              </a:rPr>
              <a:t>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201465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2CCDA"/>
                </a:solidFill>
                <a:latin typeface="Source Sans 3"/>
              </a:rPr>
              <a:t>Share the current co-design framework — its principles, values and four domains.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795" y="3520439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E0A82E"/>
                </a:solidFill>
                <a:latin typeface="Lexend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1115" y="2423160"/>
            <a:ext cx="2526715" cy="2834640"/>
          </a:xfrm>
          <a:prstGeom prst="roundRect">
            <a:avLst>
              <a:gd name="adj" fmla="val 5000"/>
            </a:avLst>
          </a:prstGeom>
          <a:solidFill>
            <a:srgbClr val="21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41115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1115" y="24231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Lexen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7147" y="3081528"/>
            <a:ext cx="20695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Lexend"/>
              </a:rP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7147" y="3611880"/>
            <a:ext cx="201465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2CCDA"/>
                </a:solidFill>
                <a:latin typeface="Source Sans 3"/>
              </a:rPr>
              <a:t>Hold it up against rare disease reality. What resonates? What's missing?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9543" y="3520439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E0A82E"/>
                </a:solidFill>
                <a:latin typeface="Lexend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2423160"/>
            <a:ext cx="2526715" cy="2834640"/>
          </a:xfrm>
          <a:prstGeom prst="roundRect">
            <a:avLst>
              <a:gd name="adj" fmla="val 5000"/>
            </a:avLst>
          </a:prstGeom>
          <a:solidFill>
            <a:srgbClr val="21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23863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3863" y="24231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Lexen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3081528"/>
            <a:ext cx="20695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Lexend"/>
              </a:rPr>
              <a:t>Co-create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9895" y="3611880"/>
            <a:ext cx="201465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2CCDA"/>
                </a:solidFill>
                <a:latin typeface="Source Sans 3"/>
              </a:rPr>
              <a:t>Adapt the framework and agree how we'll work together — our Code of Care.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291" y="3520439"/>
            <a:ext cx="274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E0A82E"/>
                </a:solidFill>
                <a:latin typeface="Lexend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611" y="2423160"/>
            <a:ext cx="2526715" cy="2834640"/>
          </a:xfrm>
          <a:prstGeom prst="roundRect">
            <a:avLst>
              <a:gd name="adj" fmla="val 5000"/>
            </a:avLst>
          </a:prstGeom>
          <a:solidFill>
            <a:srgbClr val="21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06611" y="2423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A4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611" y="24231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Lexen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643" y="3081528"/>
            <a:ext cx="20695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Lexend"/>
              </a:rPr>
              <a:t>Map &amp; move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643" y="3611880"/>
            <a:ext cx="2014651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2CCDA"/>
                </a:solidFill>
                <a:latin typeface="Source Sans 3"/>
              </a:rPr>
              <a:t>Locate where we are on the journey, and commit to first steps.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7150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1">
                <a:solidFill>
                  <a:srgbClr val="E0A82E"/>
                </a:solidFill>
                <a:latin typeface="Source Sans 3"/>
              </a:rPr>
              <a:t>Throughout: </a:t>
            </a:r>
            <a:r>
              <a:rPr sz="1350" b="0" i="1">
                <a:solidFill>
                  <a:srgbClr val="C2CCDA"/>
                </a:solidFill>
                <a:latin typeface="Source Sans 3"/>
              </a:rPr>
              <a:t>nothing about us, without us. People with lived experience lead, not just inform.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1206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0A82E"/>
                </a:solidFill>
                <a:latin typeface="Lexend"/>
              </a:rPr>
              <a:t>SHARED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50976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A2230"/>
                </a:solidFill>
                <a:latin typeface="Lexend"/>
              </a:rPr>
              <a:t>What we mean by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1A2230"/>
                </a:solidFill>
                <a:latin typeface="Lexend"/>
              </a:rPr>
              <a:t>Co-design is </a:t>
            </a:r>
            <a:r>
              <a:rPr sz="2200" b="1" i="0">
                <a:solidFill>
                  <a:srgbClr val="E8591C"/>
                </a:solidFill>
                <a:latin typeface="Lexend"/>
              </a:rPr>
              <a:t>designing with people, not for them</a:t>
            </a:r>
            <a:r>
              <a:rPr sz="2200" b="0" i="0">
                <a:solidFill>
                  <a:srgbClr val="1A2230"/>
                </a:solidFill>
                <a:latin typeface="Lexend"/>
              </a:rPr>
              <a:t> — sharing power and decisions with those who have lived experience of the issue, alongside practice wisdom, evidence and cultural knowledge.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108960"/>
            <a:ext cx="5208879" cy="2743200"/>
          </a:xfrm>
          <a:prstGeom prst="roundRect">
            <a:avLst>
              <a:gd name="adj" fmla="val 5000"/>
            </a:avLst>
          </a:prstGeom>
          <a:solidFill>
            <a:srgbClr val="E5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3108960"/>
            <a:ext cx="146304" cy="2743200"/>
          </a:xfrm>
          <a:prstGeom prst="rect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364991"/>
            <a:ext cx="456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A64A"/>
                </a:solidFill>
                <a:latin typeface="Lexend"/>
              </a:rPr>
              <a:t>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977639"/>
            <a:ext cx="4385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FA64A"/>
                </a:solidFill>
                <a:latin typeface="Source Sans 3"/>
              </a:rPr>
              <a:t>•  </a:t>
            </a:r>
            <a:r>
              <a:rPr sz="1400" b="0" i="0">
                <a:solidFill>
                  <a:srgbClr val="1A2230"/>
                </a:solidFill>
                <a:latin typeface="Source Sans 3"/>
              </a:rPr>
              <a:t>Sharing power and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4434840"/>
            <a:ext cx="4385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FA64A"/>
                </a:solidFill>
                <a:latin typeface="Source Sans 3"/>
              </a:rPr>
              <a:t>•  </a:t>
            </a:r>
            <a:r>
              <a:rPr sz="1400" b="0" i="0">
                <a:solidFill>
                  <a:srgbClr val="1A2230"/>
                </a:solidFill>
                <a:latin typeface="Source Sans 3"/>
              </a:rPr>
              <a:t>Many kinds of knowledge, valued equally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892040"/>
            <a:ext cx="4385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FA64A"/>
                </a:solidFill>
                <a:latin typeface="Source Sans 3"/>
              </a:rPr>
              <a:t>•  </a:t>
            </a:r>
            <a:r>
              <a:rPr sz="1400" b="0" i="0">
                <a:solidFill>
                  <a:srgbClr val="1A2230"/>
                </a:solidFill>
                <a:latin typeface="Source Sans 3"/>
              </a:rPr>
              <a:t>A mindset and a set of practices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5349240"/>
            <a:ext cx="4385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FA64A"/>
                </a:solidFill>
                <a:latin typeface="Source Sans 3"/>
              </a:rPr>
              <a:t>•  </a:t>
            </a:r>
            <a:r>
              <a:rPr sz="1400" b="0" i="0">
                <a:solidFill>
                  <a:srgbClr val="1A2230"/>
                </a:solidFill>
                <a:latin typeface="Source Sans 3"/>
              </a:rPr>
              <a:t>Slower at the start, stronger in the 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3108960"/>
            <a:ext cx="5208879" cy="2743200"/>
          </a:xfrm>
          <a:prstGeom prst="roundRect">
            <a:avLst>
              <a:gd name="adj" fmla="val 5000"/>
            </a:avLst>
          </a:prstGeom>
          <a:solidFill>
            <a:srgbClr val="FC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4447" y="3108960"/>
            <a:ext cx="146304" cy="2743200"/>
          </a:xfrm>
          <a:prstGeom prst="rect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5927" y="3364991"/>
            <a:ext cx="45687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591C"/>
                </a:solidFill>
                <a:latin typeface="Lexend"/>
              </a:rPr>
              <a:t>IT IS 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5927" y="3977639"/>
            <a:ext cx="4385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8591C"/>
                </a:solidFill>
                <a:latin typeface="Source Sans 3"/>
              </a:rPr>
              <a:t>•  </a:t>
            </a:r>
            <a:r>
              <a:rPr sz="1400" b="0" i="0">
                <a:solidFill>
                  <a:srgbClr val="1A2230"/>
                </a:solidFill>
                <a:latin typeface="Source Sans 3"/>
              </a:rPr>
              <a:t>Consultation or a feedback survey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4434840"/>
            <a:ext cx="4385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8591C"/>
                </a:solidFill>
                <a:latin typeface="Source Sans 3"/>
              </a:rPr>
              <a:t>•  </a:t>
            </a:r>
            <a:r>
              <a:rPr sz="1400" b="0" i="0">
                <a:solidFill>
                  <a:srgbClr val="1A2230"/>
                </a:solidFill>
                <a:latin typeface="Source Sans 3"/>
              </a:rPr>
              <a:t>Experts deciding, then 'checking in'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5927" y="4892040"/>
            <a:ext cx="4385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8591C"/>
                </a:solidFill>
                <a:latin typeface="Source Sans 3"/>
              </a:rPr>
              <a:t>•  </a:t>
            </a:r>
            <a:r>
              <a:rPr sz="1400" b="0" i="0">
                <a:solidFill>
                  <a:srgbClr val="1A2230"/>
                </a:solidFill>
                <a:latin typeface="Source Sans 3"/>
              </a:rPr>
              <a:t>A single workshop or a tick-box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5927" y="5349240"/>
            <a:ext cx="43859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E8591C"/>
                </a:solidFill>
                <a:latin typeface="Source Sans 3"/>
              </a:rPr>
              <a:t>•  </a:t>
            </a:r>
            <a:r>
              <a:rPr sz="1400" b="0" i="0">
                <a:solidFill>
                  <a:srgbClr val="1A2230"/>
                </a:solidFill>
                <a:latin typeface="Source Sans 3"/>
              </a:rPr>
              <a:t>Co-design in name only ('co-washing')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95468"/>
                </a:solidFill>
                <a:latin typeface="Source Sans 3"/>
              </a:rPr>
              <a:t>Rare Diseases NSW Co-Design Workshop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5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1206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5243A"/>
                </a:solidFill>
                <a:latin typeface="Lexend"/>
              </a:rPr>
              <a:t>THE CURRENT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50976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A2230"/>
                </a:solidFill>
                <a:latin typeface="Lexend"/>
              </a:rPr>
              <a:t>The Systemic Design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4937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495468"/>
                </a:solidFill>
                <a:latin typeface="Source Sans 3"/>
              </a:rPr>
              <a:t>One practical map for navigating complex, systemic challenges. Four domains to work through, held together by six guiding principles.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632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2230"/>
                </a:solidFill>
                <a:latin typeface="Lexend"/>
              </a:rPr>
              <a:t>SIX GUIDING PRINCIPLES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3493008"/>
            <a:ext cx="118872" cy="118872"/>
          </a:xfrm>
          <a:prstGeom prst="ellipse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071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230"/>
                </a:solidFill>
                <a:latin typeface="Source Sans 3"/>
              </a:rPr>
              <a:t>Purpose driven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877056"/>
            <a:ext cx="118872" cy="118872"/>
          </a:xfrm>
          <a:prstGeom prst="ellipse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230"/>
                </a:solidFill>
                <a:latin typeface="Source Sans 3"/>
              </a:rPr>
              <a:t>Inclusive collaboration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261104"/>
            <a:ext cx="118872" cy="118872"/>
          </a:xfrm>
          <a:prstGeom prst="ellipse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788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230"/>
                </a:solidFill>
                <a:latin typeface="Source Sans 3"/>
              </a:rPr>
              <a:t>Recognising complexity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645152"/>
            <a:ext cx="118872" cy="118872"/>
          </a:xfrm>
          <a:prstGeom prst="ellipse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6285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230"/>
                </a:solidFill>
                <a:latin typeface="Source Sans 3"/>
              </a:rPr>
              <a:t>Adaptive learning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029200"/>
            <a:ext cx="118872" cy="118872"/>
          </a:xfrm>
          <a:prstGeom prst="ellipse">
            <a:avLst/>
          </a:prstGeom>
          <a:solidFill>
            <a:srgbClr val="7A4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4690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230"/>
                </a:solidFill>
                <a:latin typeface="Source Sans 3"/>
              </a:rPr>
              <a:t>Equalising power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5413248"/>
            <a:ext cx="118872" cy="118872"/>
          </a:xfrm>
          <a:prstGeom prst="ellipse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3095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230"/>
                </a:solidFill>
                <a:latin typeface="Source Sans 3"/>
              </a:rPr>
              <a:t>Self-determination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1783080"/>
            <a:ext cx="2689707" cy="1975104"/>
          </a:xfrm>
          <a:prstGeom prst="roundRect">
            <a:avLst>
              <a:gd name="adj" fmla="val 6000"/>
            </a:avLst>
          </a:prstGeom>
          <a:solidFill>
            <a:srgbClr val="FBF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1783080"/>
            <a:ext cx="2689707" cy="109728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6" y="1984248"/>
            <a:ext cx="23239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0A82E"/>
                </a:solidFill>
                <a:latin typeface="Lexend"/>
              </a:rPr>
              <a:t>PEOPLE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8776" y="2331720"/>
            <a:ext cx="23239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95468"/>
                </a:solidFill>
                <a:latin typeface="Source Sans 3"/>
              </a:rPr>
              <a:t>Who needs to be involved?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2715768"/>
            <a:ext cx="23239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2230"/>
                </a:solidFill>
                <a:latin typeface="Source Sans 3"/>
              </a:rPr>
              <a:t>Self  ·  Team  ·  Organisation  ·  Community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43619" y="1783080"/>
            <a:ext cx="2689707" cy="1975104"/>
          </a:xfrm>
          <a:prstGeom prst="roundRect">
            <a:avLst>
              <a:gd name="adj" fmla="val 6000"/>
            </a:avLst>
          </a:prstGeom>
          <a:solidFill>
            <a:srgbClr val="E5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43619" y="1783080"/>
            <a:ext cx="2689707" cy="109728"/>
          </a:xfrm>
          <a:prstGeom prst="rect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63075" y="1984248"/>
            <a:ext cx="23239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A64A"/>
                </a:solidFill>
                <a:latin typeface="Lexend"/>
              </a:rPr>
              <a:t>PROCESS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3075" y="2331720"/>
            <a:ext cx="23239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95468"/>
                </a:solidFill>
                <a:latin typeface="Source Sans 3"/>
              </a:rPr>
              <a:t>How will we approach this?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3075" y="2715768"/>
            <a:ext cx="23239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2230"/>
                </a:solidFill>
                <a:latin typeface="Source Sans 3"/>
              </a:rPr>
              <a:t>Invitation  ·  Preparation  ·  Navigation  ·  Completion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3922776"/>
            <a:ext cx="2689707" cy="1975104"/>
          </a:xfrm>
          <a:prstGeom prst="roundRect">
            <a:avLst>
              <a:gd name="adj" fmla="val 6000"/>
            </a:avLst>
          </a:prstGeom>
          <a:solidFill>
            <a:srgbClr val="EFE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9320" y="3922776"/>
            <a:ext cx="2689707" cy="109728"/>
          </a:xfrm>
          <a:prstGeom prst="rect">
            <a:avLst/>
          </a:prstGeom>
          <a:solidFill>
            <a:srgbClr val="7A4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08776" y="4123944"/>
            <a:ext cx="23239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45D6"/>
                </a:solidFill>
                <a:latin typeface="Lexend"/>
              </a:rPr>
              <a:t>PLACE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8776" y="4471416"/>
            <a:ext cx="23239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95468"/>
                </a:solidFill>
                <a:latin typeface="Source Sans 3"/>
              </a:rPr>
              <a:t>Where does this fit?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08776" y="4855464"/>
            <a:ext cx="23239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2230"/>
                </a:solidFill>
                <a:latin typeface="Source Sans 3"/>
              </a:rPr>
              <a:t>Symbols  ·  Products  ·  Interactions  ·  System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43619" y="3922776"/>
            <a:ext cx="2689707" cy="1975104"/>
          </a:xfrm>
          <a:prstGeom prst="roundRect">
            <a:avLst>
              <a:gd name="adj" fmla="val 6000"/>
            </a:avLst>
          </a:prstGeom>
          <a:solidFill>
            <a:srgbClr val="FC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43619" y="3922776"/>
            <a:ext cx="2689707" cy="109728"/>
          </a:xfrm>
          <a:prstGeom prst="rect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63075" y="4123944"/>
            <a:ext cx="23239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591C"/>
                </a:solidFill>
                <a:latin typeface="Lexend"/>
              </a:rPr>
              <a:t>PRACTICE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3075" y="4471416"/>
            <a:ext cx="23239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495468"/>
                </a:solidFill>
                <a:latin typeface="Source Sans 3"/>
              </a:rPr>
              <a:t>What will we use?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63075" y="4855464"/>
            <a:ext cx="232394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2230"/>
                </a:solidFill>
                <a:latin typeface="Source Sans 3"/>
              </a:rPr>
              <a:t>Tools  ·  Techniques  ·  Methods  ·  Principles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1813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495468"/>
                </a:solidFill>
                <a:latin typeface="Source Sans 3"/>
              </a:rPr>
              <a:t>Framework: Emma Blomkamp, The Systemic Design Practice Wheel (2021), CC BY-NC.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1206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A64A"/>
                </a:solidFill>
                <a:latin typeface="Lexend"/>
              </a:rPr>
              <a:t>THE CURRENT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50976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A2230"/>
                </a:solidFill>
                <a:latin typeface="Lexend"/>
              </a:rPr>
              <a:t>Principles &amp; values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442106" cy="162763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74519"/>
            <a:ext cx="128016" cy="1627632"/>
          </a:xfrm>
          <a:prstGeom prst="rect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112263"/>
            <a:ext cx="29391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A2230"/>
                </a:solidFill>
                <a:latin typeface="Lexend"/>
              </a:rPr>
              <a:t>Purpose driven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87752"/>
            <a:ext cx="289346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495468"/>
                </a:solidFill>
                <a:latin typeface="Source Sans 3"/>
              </a:rPr>
              <a:t>Stay anchored to why this matters and who it's for.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4794" y="1874519"/>
            <a:ext cx="3442106" cy="162763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4794" y="1874519"/>
            <a:ext cx="128016" cy="1627632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3978" y="2112263"/>
            <a:ext cx="29391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A2230"/>
                </a:solidFill>
                <a:latin typeface="Lexend"/>
              </a:rPr>
              <a:t>Inclusive collaboration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3978" y="2587752"/>
            <a:ext cx="289346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495468"/>
                </a:solidFill>
                <a:latin typeface="Source Sans 3"/>
              </a:rPr>
              <a:t>Bring diverse people and knowledge together — genuinely.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1220" y="1874519"/>
            <a:ext cx="3442106" cy="162763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1220" y="1874519"/>
            <a:ext cx="128016" cy="1627632"/>
          </a:xfrm>
          <a:prstGeom prst="rect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0404" y="2112263"/>
            <a:ext cx="29391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A2230"/>
                </a:solidFill>
                <a:latin typeface="Lexend"/>
              </a:rPr>
              <a:t>Recognising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0404" y="2587752"/>
            <a:ext cx="289346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495468"/>
                </a:solidFill>
                <a:latin typeface="Source Sans 3"/>
              </a:rPr>
              <a:t>Work with the whole system, not isolated parts.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76472"/>
            <a:ext cx="3442106" cy="162763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776472"/>
            <a:ext cx="128016" cy="1627632"/>
          </a:xfrm>
          <a:prstGeom prst="rect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014215"/>
            <a:ext cx="29391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A2230"/>
                </a:solidFill>
                <a:latin typeface="Lexend"/>
              </a:rPr>
              <a:t>Adaptive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489704"/>
            <a:ext cx="289346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495468"/>
                </a:solidFill>
                <a:latin typeface="Source Sans 3"/>
              </a:rPr>
              <a:t>Stay curious; test, learn and adjust as we go.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4794" y="3776472"/>
            <a:ext cx="3442106" cy="162763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4794" y="3776472"/>
            <a:ext cx="128016" cy="1627632"/>
          </a:xfrm>
          <a:prstGeom prst="rect">
            <a:avLst/>
          </a:prstGeom>
          <a:solidFill>
            <a:srgbClr val="7A4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3978" y="4014215"/>
            <a:ext cx="29391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A2230"/>
                </a:solidFill>
                <a:latin typeface="Lexend"/>
              </a:rPr>
              <a:t>Equalising 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3978" y="4489704"/>
            <a:ext cx="289346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495468"/>
                </a:solidFill>
                <a:latin typeface="Source Sans 3"/>
              </a:rPr>
              <a:t>Share decisions; redistribute who gets to shape outcomes.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1220" y="3776472"/>
            <a:ext cx="3442106" cy="1627632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1220" y="3776472"/>
            <a:ext cx="128016" cy="1627632"/>
          </a:xfrm>
          <a:prstGeom prst="rect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0404" y="4014215"/>
            <a:ext cx="293918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A2230"/>
                </a:solidFill>
                <a:latin typeface="Lexend"/>
              </a:rPr>
              <a:t>Self-determination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0404" y="4489704"/>
            <a:ext cx="289346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495468"/>
                </a:solidFill>
                <a:latin typeface="Source Sans 3"/>
              </a:rPr>
              <a:t>People shape the things that affect their own lives.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95468"/>
                </a:solidFill>
                <a:latin typeface="Source Sans 3"/>
              </a:rPr>
              <a:t>Rare Diseases NSW Co-Design Workshop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0A82E"/>
                </a:solidFill>
                <a:latin typeface="Lexend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FFFFFF"/>
                </a:solidFill>
                <a:latin typeface="Lexend"/>
              </a:rPr>
              <a:t>Do these make sense for rare disease? What's missing?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5074920" cy="3657600"/>
          </a:xfrm>
          <a:prstGeom prst="roundRect">
            <a:avLst>
              <a:gd name="adj" fmla="val 4000"/>
            </a:avLst>
          </a:prstGeom>
          <a:solidFill>
            <a:srgbClr val="21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331720"/>
            <a:ext cx="4343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82E"/>
                </a:solidFill>
                <a:latin typeface="Lexend"/>
              </a:rPr>
              <a:t>DO THEY MAKE SENSE?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880360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E0A82E"/>
                </a:solidFill>
                <a:latin typeface="Source Sans 3"/>
              </a:rPr>
              <a:t>?  </a:t>
            </a:r>
            <a:r>
              <a:rPr sz="1450" b="0" i="0">
                <a:solidFill>
                  <a:srgbClr val="D7DEE9"/>
                </a:solidFill>
                <a:latin typeface="Source Sans 3"/>
              </a:rPr>
              <a:t>Which principles resonate most for our community?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557015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E0A82E"/>
                </a:solidFill>
                <a:latin typeface="Source Sans 3"/>
              </a:rPr>
              <a:t>?  </a:t>
            </a:r>
            <a:r>
              <a:rPr sz="1450" b="0" i="0">
                <a:solidFill>
                  <a:srgbClr val="D7DEE9"/>
                </a:solidFill>
                <a:latin typeface="Source Sans 3"/>
              </a:rPr>
              <a:t>Where do they fall short, or feel abstract?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233672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E0A82E"/>
                </a:solidFill>
                <a:latin typeface="Source Sans 3"/>
              </a:rPr>
              <a:t>?  </a:t>
            </a:r>
            <a:r>
              <a:rPr sz="1450" b="0" i="0">
                <a:solidFill>
                  <a:srgbClr val="D7DEE9"/>
                </a:solidFill>
                <a:latin typeface="Source Sans 3"/>
              </a:rPr>
              <a:t>Whose voice is centred — and whose is missing?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910328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E0A82E"/>
                </a:solidFill>
                <a:latin typeface="Source Sans 3"/>
              </a:rPr>
              <a:t>?  </a:t>
            </a:r>
            <a:r>
              <a:rPr sz="1450" b="0" i="0">
                <a:solidFill>
                  <a:srgbClr val="D7DEE9"/>
                </a:solidFill>
                <a:latin typeface="Source Sans 3"/>
              </a:rPr>
              <a:t>Does 'equalising power' go far enough for families?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57400"/>
            <a:ext cx="5342839" cy="3657600"/>
          </a:xfrm>
          <a:prstGeom prst="roundRect">
            <a:avLst>
              <a:gd name="adj" fmla="val 4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331720"/>
            <a:ext cx="46113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2230"/>
                </a:solidFill>
                <a:latin typeface="Lexend"/>
              </a:rPr>
              <a:t>WHAT MIGHT BE MISSING FOR RARE DISEASE?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852928"/>
            <a:ext cx="46113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8591C"/>
                </a:solidFill>
                <a:latin typeface="Source Sans 3"/>
              </a:rPr>
              <a:t>+  </a:t>
            </a:r>
            <a:r>
              <a:rPr sz="1300" b="1" i="0">
                <a:solidFill>
                  <a:srgbClr val="1A2230"/>
                </a:solidFill>
                <a:latin typeface="Source Sans 3"/>
              </a:rPr>
              <a:t>Urgency  —  </a:t>
            </a:r>
            <a:r>
              <a:rPr sz="1300" b="0" i="0">
                <a:solidFill>
                  <a:srgbClr val="4A3D12"/>
                </a:solidFill>
                <a:latin typeface="Source Sans 3"/>
              </a:rPr>
              <a:t>progressive &amp; life-limiting conditions — time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3310128"/>
            <a:ext cx="46113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8591C"/>
                </a:solidFill>
                <a:latin typeface="Source Sans 3"/>
              </a:rPr>
              <a:t>+  </a:t>
            </a:r>
            <a:r>
              <a:rPr sz="1300" b="1" i="0">
                <a:solidFill>
                  <a:srgbClr val="1A2230"/>
                </a:solidFill>
                <a:latin typeface="Source Sans 3"/>
              </a:rPr>
              <a:t>Diagnostic odyssey  —  </a:t>
            </a:r>
            <a:r>
              <a:rPr sz="1300" b="0" i="0">
                <a:solidFill>
                  <a:srgbClr val="4A3D12"/>
                </a:solidFill>
                <a:latin typeface="Source Sans 3"/>
              </a:rPr>
              <a:t>designing amid uncertainty and 'no diagnosis yet'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3767328"/>
            <a:ext cx="46113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8591C"/>
                </a:solidFill>
                <a:latin typeface="Source Sans 3"/>
              </a:rPr>
              <a:t>+  </a:t>
            </a:r>
            <a:r>
              <a:rPr sz="1300" b="1" i="0">
                <a:solidFill>
                  <a:srgbClr val="1A2230"/>
                </a:solidFill>
                <a:latin typeface="Source Sans 3"/>
              </a:rPr>
              <a:t>Ultra-rare / n-of-few  —  </a:t>
            </a:r>
            <a:r>
              <a:rPr sz="1300" b="0" i="0">
                <a:solidFill>
                  <a:srgbClr val="4A3D12"/>
                </a:solidFill>
                <a:latin typeface="Source Sans 3"/>
              </a:rPr>
              <a:t>when the 'community' is a handful of families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4224528"/>
            <a:ext cx="46113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8591C"/>
                </a:solidFill>
                <a:latin typeface="Source Sans 3"/>
              </a:rPr>
              <a:t>+  </a:t>
            </a:r>
            <a:r>
              <a:rPr sz="1300" b="1" i="0">
                <a:solidFill>
                  <a:srgbClr val="1A2230"/>
                </a:solidFill>
                <a:latin typeface="Source Sans 3"/>
              </a:rPr>
              <a:t>Distance &amp; equity  —  </a:t>
            </a:r>
            <a:r>
              <a:rPr sz="1300" b="0" i="0">
                <a:solidFill>
                  <a:srgbClr val="4A3D12"/>
                </a:solidFill>
                <a:latin typeface="Source Sans 3"/>
              </a:rPr>
              <a:t>rural &amp; regional NSW; tele-everything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4681728"/>
            <a:ext cx="46113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8591C"/>
                </a:solidFill>
                <a:latin typeface="Source Sans 3"/>
              </a:rPr>
              <a:t>+  </a:t>
            </a:r>
            <a:r>
              <a:rPr sz="1300" b="1" i="0">
                <a:solidFill>
                  <a:srgbClr val="1A2230"/>
                </a:solidFill>
                <a:latin typeface="Source Sans 3"/>
              </a:rPr>
              <a:t>Trust &amp; data  —  </a:t>
            </a:r>
            <a:r>
              <a:rPr sz="1300" b="0" i="0">
                <a:solidFill>
                  <a:srgbClr val="4A3D12"/>
                </a:solidFill>
                <a:latin typeface="Source Sans 3"/>
              </a:rPr>
              <a:t>research fatigue; who owns our stories and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5138928"/>
            <a:ext cx="461131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8591C"/>
                </a:solidFill>
                <a:latin typeface="Source Sans 3"/>
              </a:rPr>
              <a:t>+  </a:t>
            </a:r>
            <a:r>
              <a:rPr sz="1300" b="1" i="0">
                <a:solidFill>
                  <a:srgbClr val="1A2230"/>
                </a:solidFill>
                <a:latin typeface="Source Sans 3"/>
              </a:rPr>
              <a:t>Sustainability  —  </a:t>
            </a:r>
            <a:r>
              <a:rPr sz="1300" b="0" i="0">
                <a:solidFill>
                  <a:srgbClr val="4A3D12"/>
                </a:solidFill>
                <a:latin typeface="Source Sans 3"/>
              </a:rPr>
              <a:t>small, volunteer-run groups; carer burnout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1206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591C"/>
                </a:solidFill>
                <a:latin typeface="Lexend"/>
              </a:rPr>
              <a:t>RULES OF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50976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A2230"/>
                </a:solidFill>
                <a:latin typeface="Lexend"/>
              </a:rPr>
              <a:t>Our Code of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495468"/>
                </a:solidFill>
                <a:latin typeface="Source Sans 3"/>
              </a:rPr>
              <a:t>How we'll be together today — and beyond. We'll add to and adopt these as a group.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68880"/>
            <a:ext cx="3442106" cy="1554480"/>
          </a:xfrm>
          <a:prstGeom prst="roundRect">
            <a:avLst>
              <a:gd name="adj" fmla="val 6000"/>
            </a:avLst>
          </a:prstGeom>
          <a:solidFill>
            <a:srgbClr val="FC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724912"/>
            <a:ext cx="420624" cy="420624"/>
          </a:xfrm>
          <a:prstGeom prst="ellipse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2491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exen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706624"/>
            <a:ext cx="24362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2230"/>
                </a:solidFill>
                <a:latin typeface="Lexend"/>
              </a:rPr>
              <a:t>Nothing about us, without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310128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80" b="0" i="0">
                <a:solidFill>
                  <a:srgbClr val="495468"/>
                </a:solidFill>
                <a:latin typeface="Source Sans 3"/>
              </a:rPr>
              <a:t>Lived experience leads. People most affected help shape every decision.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4794" y="2468880"/>
            <a:ext cx="3442106" cy="1554480"/>
          </a:xfrm>
          <a:prstGeom prst="roundRect">
            <a:avLst>
              <a:gd name="adj" fmla="val 6000"/>
            </a:avLst>
          </a:prstGeom>
          <a:solidFill>
            <a:srgbClr val="FC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9114" y="2724912"/>
            <a:ext cx="420624" cy="420624"/>
          </a:xfrm>
          <a:prstGeom prst="ellipse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9114" y="272491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exen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6042" y="2706624"/>
            <a:ext cx="24362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2230"/>
                </a:solidFill>
                <a:latin typeface="Lexend"/>
              </a:rPr>
              <a:t>Every voice 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9114" y="3310128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80" b="0" i="0">
                <a:solidFill>
                  <a:srgbClr val="495468"/>
                </a:solidFill>
                <a:latin typeface="Source Sans 3"/>
              </a:rPr>
              <a:t>All knowledge is valued. No jargon left unexplained; ask anything.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1220" y="2468880"/>
            <a:ext cx="3442106" cy="1554480"/>
          </a:xfrm>
          <a:prstGeom prst="roundRect">
            <a:avLst>
              <a:gd name="adj" fmla="val 6000"/>
            </a:avLst>
          </a:prstGeom>
          <a:solidFill>
            <a:srgbClr val="FC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65540" y="2724912"/>
            <a:ext cx="420624" cy="420624"/>
          </a:xfrm>
          <a:prstGeom prst="ellipse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5540" y="272491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exen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2468" y="2706624"/>
            <a:ext cx="24362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2230"/>
                </a:solidFill>
                <a:latin typeface="Lexend"/>
              </a:rPr>
              <a:t>Share the 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5540" y="3310128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80" b="0" i="0">
                <a:solidFill>
                  <a:srgbClr val="495468"/>
                </a:solidFill>
                <a:latin typeface="Source Sans 3"/>
              </a:rPr>
              <a:t>Step up, step back. Make room so quieter voices are heard.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279392"/>
            <a:ext cx="3442106" cy="1554480"/>
          </a:xfrm>
          <a:prstGeom prst="roundRect">
            <a:avLst>
              <a:gd name="adj" fmla="val 6000"/>
            </a:avLst>
          </a:prstGeom>
          <a:solidFill>
            <a:srgbClr val="FC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2688" y="4535424"/>
            <a:ext cx="420624" cy="420624"/>
          </a:xfrm>
          <a:prstGeom prst="ellipse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5354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exen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9616" y="4517136"/>
            <a:ext cx="24362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2230"/>
                </a:solidFill>
                <a:latin typeface="Lexend"/>
              </a:rPr>
              <a:t>Safe &amp;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5120640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80" b="0" i="0">
                <a:solidFill>
                  <a:srgbClr val="495468"/>
                </a:solidFill>
                <a:latin typeface="Source Sans 3"/>
              </a:rPr>
              <a:t>Stories stay in the room. Care for yourself and each other.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4794" y="4279392"/>
            <a:ext cx="3442106" cy="1554480"/>
          </a:xfrm>
          <a:prstGeom prst="roundRect">
            <a:avLst>
              <a:gd name="adj" fmla="val 6000"/>
            </a:avLst>
          </a:prstGeom>
          <a:solidFill>
            <a:srgbClr val="FC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49114" y="4535424"/>
            <a:ext cx="420624" cy="420624"/>
          </a:xfrm>
          <a:prstGeom prst="ellipse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9114" y="45354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exend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6042" y="4517136"/>
            <a:ext cx="24362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2230"/>
                </a:solidFill>
                <a:latin typeface="Lexend"/>
              </a:rPr>
              <a:t>Disagree generously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9114" y="5120640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80" b="0" i="0">
                <a:solidFill>
                  <a:srgbClr val="495468"/>
                </a:solidFill>
                <a:latin typeface="Source Sans 3"/>
              </a:rPr>
              <a:t>Challenge ideas, not people. Curiosity over certainty.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1220" y="4279392"/>
            <a:ext cx="3442106" cy="1554480"/>
          </a:xfrm>
          <a:prstGeom prst="roundRect">
            <a:avLst>
              <a:gd name="adj" fmla="val 6000"/>
            </a:avLst>
          </a:prstGeom>
          <a:solidFill>
            <a:srgbClr val="FC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65540" y="4535424"/>
            <a:ext cx="420624" cy="420624"/>
          </a:xfrm>
          <a:prstGeom prst="ellipse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5540" y="45354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exend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32468" y="4517136"/>
            <a:ext cx="24362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2230"/>
                </a:solidFill>
                <a:latin typeface="Lexend"/>
              </a:rPr>
              <a:t>It's okay to pause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5540" y="5120640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80" b="0" i="0">
                <a:solidFill>
                  <a:srgbClr val="495468"/>
                </a:solidFill>
                <a:latin typeface="Source Sans 3"/>
              </a:rPr>
              <a:t>Distress is welcome here; support is available. Progress over perfection.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95468"/>
                </a:solidFill>
                <a:latin typeface="Source Sans 3"/>
              </a:rPr>
              <a:t>Rare Diseases NSW Co-Design Workshop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5243A"/>
                </a:solidFill>
                <a:latin typeface="Lexend"/>
              </a:rPr>
              <a:t>WORKING THROUGH THE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A2230"/>
                </a:solidFill>
                <a:latin typeface="Lexend"/>
              </a:rPr>
              <a:t>Four domains to design with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286000"/>
            <a:ext cx="2512999" cy="3383280"/>
          </a:xfrm>
          <a:prstGeom prst="roundRect">
            <a:avLst>
              <a:gd name="adj" fmla="val 5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578608"/>
            <a:ext cx="19643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A2230"/>
                </a:solidFill>
                <a:latin typeface="Lexend"/>
              </a:rPr>
              <a:t>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154680"/>
            <a:ext cx="1964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5A4712"/>
                </a:solidFill>
                <a:latin typeface="Source Sans 3"/>
              </a:rPr>
              <a:t>Who needs to be involved?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3886200"/>
            <a:ext cx="1964359" cy="0"/>
          </a:xfrm>
          <a:prstGeom prst="bentConnector3">
            <a:avLst/>
          </a:prstGeom>
          <a:ln w="9525">
            <a:solidFill>
              <a:srgbClr val="1A22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32688" y="4069080"/>
            <a:ext cx="1964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2230"/>
                </a:solidFill>
                <a:latin typeface="Source Sans 3"/>
              </a:rPr>
              <a:t>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453128"/>
            <a:ext cx="1964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2230"/>
                </a:solidFill>
                <a:latin typeface="Source Sans 3"/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837176"/>
            <a:ext cx="1964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2230"/>
                </a:solidFill>
                <a:latin typeface="Source Sans 3"/>
              </a:rPr>
              <a:t>Organisation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5221224"/>
            <a:ext cx="1964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2230"/>
                </a:solidFill>
                <a:latin typeface="Source Sans 3"/>
              </a:rPr>
              <a:t>Community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5687" y="2286000"/>
            <a:ext cx="2512999" cy="3383280"/>
          </a:xfrm>
          <a:prstGeom prst="roundRect">
            <a:avLst>
              <a:gd name="adj" fmla="val 5000"/>
            </a:avLst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0007" y="2578608"/>
            <a:ext cx="19643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Lexend"/>
              </a:rP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0007" y="3154680"/>
            <a:ext cx="1964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FFFFFF"/>
                </a:solidFill>
                <a:latin typeface="Source Sans 3"/>
              </a:rPr>
              <a:t>How will we approach this?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20007" y="3886200"/>
            <a:ext cx="1964360" cy="0"/>
          </a:xfrm>
          <a:prstGeom prst="bentConnector3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720007" y="4069080"/>
            <a:ext cx="1964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ource Sans 3"/>
              </a:rPr>
              <a:t>Invitation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0007" y="4453128"/>
            <a:ext cx="1964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ource Sans 3"/>
              </a:rPr>
              <a:t>Preparation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0007" y="4837176"/>
            <a:ext cx="1964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ource Sans 3"/>
              </a:rPr>
              <a:t>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0007" y="5221224"/>
            <a:ext cx="1964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ource Sans 3"/>
              </a:rPr>
              <a:t>Completion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286000"/>
            <a:ext cx="2512999" cy="3383280"/>
          </a:xfrm>
          <a:prstGeom prst="roundRect">
            <a:avLst>
              <a:gd name="adj" fmla="val 5000"/>
            </a:avLst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2578608"/>
            <a:ext cx="19643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Lexend"/>
              </a:rPr>
              <a:t>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327" y="3154680"/>
            <a:ext cx="1964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FFFFFF"/>
                </a:solidFill>
                <a:latin typeface="Source Sans 3"/>
              </a:rPr>
              <a:t>What will we use?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07327" y="3886200"/>
            <a:ext cx="1964360" cy="0"/>
          </a:xfrm>
          <a:prstGeom prst="bentConnector3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07327" y="4069080"/>
            <a:ext cx="1964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ource Sans 3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7" y="4453128"/>
            <a:ext cx="1964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ource Sans 3"/>
              </a:rPr>
              <a:t>Techniques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7327" y="4837176"/>
            <a:ext cx="1964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ource Sans 3"/>
              </a:rPr>
              <a:t>Methods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7327" y="5221224"/>
            <a:ext cx="1964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ource Sans 3"/>
              </a:rPr>
              <a:t>Principles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20327" y="2286000"/>
            <a:ext cx="2512999" cy="3383280"/>
          </a:xfrm>
          <a:prstGeom prst="roundRect">
            <a:avLst>
              <a:gd name="adj" fmla="val 5000"/>
            </a:avLst>
          </a:prstGeom>
          <a:solidFill>
            <a:srgbClr val="7A4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4647" y="2578608"/>
            <a:ext cx="19643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Lexend"/>
              </a:rPr>
              <a:t>Place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4647" y="3154680"/>
            <a:ext cx="19643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FFFFFF"/>
                </a:solidFill>
                <a:latin typeface="Source Sans 3"/>
              </a:rPr>
              <a:t>Where does this fit?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294647" y="3886200"/>
            <a:ext cx="1964360" cy="0"/>
          </a:xfrm>
          <a:prstGeom prst="bentConnector3">
            <a:avLst/>
          </a:prstGeom>
          <a:ln w="952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294647" y="4069080"/>
            <a:ext cx="1964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ource Sans 3"/>
              </a:rPr>
              <a:t>Symbols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4647" y="4453128"/>
            <a:ext cx="1964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ource Sans 3"/>
              </a:rPr>
              <a:t>Products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4647" y="4837176"/>
            <a:ext cx="1964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ource Sans 3"/>
              </a:rPr>
              <a:t>Interactions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4647" y="5221224"/>
            <a:ext cx="1964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ource Sans 3"/>
              </a:rPr>
              <a:t>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8521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495468"/>
                </a:solidFill>
                <a:latin typeface="Source Sans 3"/>
              </a:rPr>
              <a:t>We'll look closely at People — the heart of co-design — then Process, Practice and Place.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1206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0A82E"/>
                </a:solidFill>
                <a:latin typeface="Lexend"/>
              </a:rPr>
              <a:t>PEOPLE · DOMAIN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50976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A2230"/>
                </a:solidFill>
                <a:latin typeface="Lexend"/>
              </a:rPr>
              <a:t>Who needs to be involved?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495468"/>
                </a:solidFill>
                <a:latin typeface="Source Sans 3"/>
              </a:rPr>
              <a:t>Co-design ripples outward — from how we show up ourselves, to the team, the organisation, and the wider community we serve.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20040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E8591C"/>
                </a:solidFill>
                <a:latin typeface="Source Sans 3"/>
              </a:rPr>
              <a:t>For rare disease: </a:t>
            </a:r>
            <a:r>
              <a:rPr sz="1400" b="0" i="0">
                <a:solidFill>
                  <a:srgbClr val="495468"/>
                </a:solidFill>
                <a:latin typeface="Source Sans 3"/>
              </a:rPr>
              <a:t>the 'community' may be geographically scattered and tiny — and patients, carers and families are experts in equal measure.</a:t>
            </a:r>
          </a:p>
        </p:txBody>
      </p:sp>
      <p:sp>
        <p:nvSpPr>
          <p:cNvPr id="7" name="Oval 6"/>
          <p:cNvSpPr/>
          <p:nvPr/>
        </p:nvSpPr>
        <p:spPr>
          <a:xfrm>
            <a:off x="7223759" y="2057400"/>
            <a:ext cx="3108960" cy="3108960"/>
          </a:xfrm>
          <a:prstGeom prst="ellipse">
            <a:avLst/>
          </a:prstGeom>
          <a:solidFill>
            <a:srgbClr val="FBF3D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12379" y="2446020"/>
            <a:ext cx="2331720" cy="2331720"/>
          </a:xfrm>
          <a:prstGeom prst="ellipse">
            <a:avLst/>
          </a:prstGeom>
          <a:solidFill>
            <a:srgbClr val="F2DFA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2834640"/>
            <a:ext cx="1554480" cy="1554480"/>
          </a:xfrm>
          <a:prstGeom prst="ellipse">
            <a:avLst/>
          </a:prstGeom>
          <a:solidFill>
            <a:srgbClr val="ECC955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43900" y="3177540"/>
            <a:ext cx="868680" cy="868680"/>
          </a:xfrm>
          <a:prstGeom prst="ellipse">
            <a:avLst/>
          </a:prstGeom>
          <a:solidFill>
            <a:srgbClr val="E0A82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59" y="216712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2230"/>
                </a:solidFill>
                <a:latin typeface="Lexend"/>
              </a:rPr>
              <a:t>Community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2379" y="255574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2230"/>
                </a:solidFill>
                <a:latin typeface="Lexend"/>
              </a:rPr>
              <a:t>Organisation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94436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2230"/>
                </a:solidFill>
                <a:latin typeface="Lexend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4472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2230"/>
                </a:solidFill>
                <a:latin typeface="Lexend"/>
              </a:rPr>
              <a:t>Self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95468"/>
                </a:solidFill>
                <a:latin typeface="Source Sans 3"/>
              </a:rPr>
              <a:t>Rare Diseases NSW Co-Design Workshop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1206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0A82E"/>
                </a:solidFill>
                <a:latin typeface="Lexend"/>
              </a:rPr>
              <a:t>PEOPLE · KEY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50976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A2230"/>
                </a:solidFill>
                <a:latin typeface="Lexend"/>
              </a:rPr>
              <a:t>The teams that make it work</a:t>
            </a:r>
          </a:p>
        </p:txBody>
      </p:sp>
      <p:sp>
        <p:nvSpPr>
          <p:cNvPr id="5" name="Oval 4"/>
          <p:cNvSpPr/>
          <p:nvPr/>
        </p:nvSpPr>
        <p:spPr>
          <a:xfrm>
            <a:off x="1965960" y="2194560"/>
            <a:ext cx="3383280" cy="3383280"/>
          </a:xfrm>
          <a:prstGeom prst="ellipse">
            <a:avLst/>
          </a:prstGeom>
          <a:solidFill>
            <a:srgbClr val="4A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8880" y="2926080"/>
            <a:ext cx="2377440" cy="2377440"/>
          </a:xfrm>
          <a:prstGeom prst="ellipse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71800" y="3611880"/>
            <a:ext cx="1371600" cy="1371600"/>
          </a:xfrm>
          <a:prstGeom prst="ellipse">
            <a:avLst/>
          </a:prstGeom>
          <a:solidFill>
            <a:srgbClr val="7A4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03320" y="4069080"/>
            <a:ext cx="1737360" cy="1737360"/>
          </a:xfrm>
          <a:prstGeom prst="ellipse">
            <a:avLst/>
          </a:prstGeom>
          <a:solidFill>
            <a:srgbClr val="FFFFFF">
              <a:alpha val="62000"/>
            </a:srgbClr>
          </a:solidFill>
          <a:ln w="31750">
            <a:solidFill>
              <a:srgbClr val="E85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3317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Lexend"/>
              </a:rPr>
              <a:t>Community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971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Lexend"/>
              </a:rPr>
              <a:t>Organisation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050791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Lexend"/>
              </a:rPr>
              <a:t>Project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4965192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2230"/>
                </a:solidFill>
                <a:latin typeface="Lexend"/>
              </a:rPr>
              <a:t>Co-design team</a:t>
            </a:r>
          </a:p>
        </p:txBody>
      </p:sp>
      <p:sp>
        <p:nvSpPr>
          <p:cNvPr id="13" name="Oval 12"/>
          <p:cNvSpPr/>
          <p:nvPr/>
        </p:nvSpPr>
        <p:spPr>
          <a:xfrm>
            <a:off x="6126480" y="2020824"/>
            <a:ext cx="201168" cy="201168"/>
          </a:xfrm>
          <a:prstGeom prst="ellipse">
            <a:avLst/>
          </a:prstGeom>
          <a:solidFill>
            <a:srgbClr val="4A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29384"/>
            <a:ext cx="5041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A2230"/>
                </a:solidFill>
                <a:latin typeface="Lexend"/>
              </a:rPr>
              <a:t>Community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95468"/>
                </a:solidFill>
                <a:latin typeface="Source Sans 3"/>
              </a:rPr>
              <a:t>Everyone affected by, and with a stake in, the issue.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0" y="2980944"/>
            <a:ext cx="201168" cy="201168"/>
          </a:xfrm>
          <a:prstGeom prst="ellipse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889504"/>
            <a:ext cx="5041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A2230"/>
                </a:solidFill>
                <a:latin typeface="Lexend"/>
              </a:rPr>
              <a:t>Organisation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95468"/>
                </a:solidFill>
                <a:latin typeface="Source Sans 3"/>
              </a:rPr>
              <a:t>Those who hold resources, mandate and accountability.</a:t>
            </a:r>
          </a:p>
        </p:txBody>
      </p:sp>
      <p:sp>
        <p:nvSpPr>
          <p:cNvPr id="17" name="Oval 16"/>
          <p:cNvSpPr/>
          <p:nvPr/>
        </p:nvSpPr>
        <p:spPr>
          <a:xfrm>
            <a:off x="6126480" y="3941063"/>
            <a:ext cx="201168" cy="201168"/>
          </a:xfrm>
          <a:prstGeom prst="ellipse">
            <a:avLst/>
          </a:prstGeom>
          <a:solidFill>
            <a:srgbClr val="7A4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849624"/>
            <a:ext cx="5041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A2230"/>
                </a:solidFill>
                <a:latin typeface="Lexend"/>
              </a:rPr>
              <a:t>Project team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95468"/>
                </a:solidFill>
                <a:latin typeface="Source Sans 3"/>
              </a:rPr>
              <a:t>The core group driving the work day to day.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0" y="4901183"/>
            <a:ext cx="201168" cy="201168"/>
          </a:xfrm>
          <a:prstGeom prst="ellipse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809744"/>
            <a:ext cx="5041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A2230"/>
                </a:solidFill>
                <a:latin typeface="Lexend"/>
              </a:rPr>
              <a:t>Co-design team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95468"/>
                </a:solidFill>
                <a:latin typeface="Source Sans 3"/>
              </a:rPr>
              <a:t>Where lived experience and the project team meet — the engine of co-design.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1813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495468"/>
                </a:solidFill>
                <a:latin typeface="Source Sans 3"/>
              </a:rPr>
              <a:t>After Blomkamp / New Know How: Co-Design Teams.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1206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0A82E"/>
                </a:solidFill>
                <a:latin typeface="Lexend"/>
              </a:rPr>
              <a:t>PEOPLE · KEY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50976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A2230"/>
                </a:solidFill>
                <a:latin typeface="Lexend"/>
              </a:rPr>
              <a:t>The roles around the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11680"/>
            <a:ext cx="2014057" cy="14173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011680"/>
            <a:ext cx="2014057" cy="100584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22576"/>
            <a:ext cx="16848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2230"/>
                </a:solidFill>
                <a:latin typeface="Lexend"/>
              </a:rPr>
              <a:t>Convenor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44368"/>
            <a:ext cx="16848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495468"/>
                </a:solidFill>
                <a:latin typeface="Source Sans 3"/>
              </a:rPr>
              <a:t>facilitator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73593" y="2011680"/>
            <a:ext cx="2014057" cy="14173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73593" y="2011680"/>
            <a:ext cx="2014057" cy="100584"/>
          </a:xfrm>
          <a:prstGeom prst="rect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8185" y="2322576"/>
            <a:ext cx="16848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2230"/>
                </a:solidFill>
                <a:latin typeface="Lexend"/>
              </a:rPr>
              <a:t>Creator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8185" y="2944368"/>
            <a:ext cx="16848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495468"/>
                </a:solidFill>
                <a:latin typeface="Source Sans 3"/>
              </a:rPr>
              <a:t>designer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8818" y="2011680"/>
            <a:ext cx="2014057" cy="14173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88818" y="2011680"/>
            <a:ext cx="2014057" cy="100584"/>
          </a:xfrm>
          <a:prstGeom prst="rect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3410" y="2322576"/>
            <a:ext cx="16848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2230"/>
                </a:solidFill>
                <a:latin typeface="Lexend"/>
              </a:rPr>
              <a:t>Commissioner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3410" y="2944368"/>
            <a:ext cx="16848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495468"/>
                </a:solidFill>
                <a:latin typeface="Source Sans 3"/>
              </a:rPr>
              <a:t>sponsor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4044" y="2011680"/>
            <a:ext cx="2014057" cy="14173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04044" y="2011680"/>
            <a:ext cx="2014057" cy="100584"/>
          </a:xfrm>
          <a:prstGeom prst="rect">
            <a:avLst/>
          </a:prstGeom>
          <a:solidFill>
            <a:srgbClr val="7A4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8636" y="2322576"/>
            <a:ext cx="16848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2230"/>
                </a:solidFill>
                <a:latin typeface="Lexend"/>
              </a:rPr>
              <a:t>Connector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8636" y="2944368"/>
            <a:ext cx="16848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495468"/>
                </a:solidFill>
                <a:latin typeface="Source Sans 3"/>
              </a:rPr>
              <a:t>broker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19269" y="2011680"/>
            <a:ext cx="2014057" cy="14173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19269" y="2011680"/>
            <a:ext cx="2014057" cy="100584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83861" y="2322576"/>
            <a:ext cx="16848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2230"/>
                </a:solidFill>
                <a:latin typeface="Lexend"/>
              </a:rPr>
              <a:t>Coach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3861" y="2944368"/>
            <a:ext cx="16848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495468"/>
                </a:solidFill>
                <a:latin typeface="Source Sans 3"/>
              </a:rPr>
              <a:t>mentor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85032"/>
            <a:ext cx="2014057" cy="14173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685032"/>
            <a:ext cx="2014057" cy="100584"/>
          </a:xfrm>
          <a:prstGeom prst="rect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3995928"/>
            <a:ext cx="16848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2230"/>
                </a:solidFill>
                <a:latin typeface="Lexend"/>
              </a:rPr>
              <a:t>Living expert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4617720"/>
            <a:ext cx="16848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495468"/>
                </a:solidFill>
                <a:latin typeface="Source Sans 3"/>
              </a:rPr>
              <a:t>lived experience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73593" y="3685032"/>
            <a:ext cx="2014057" cy="14173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73593" y="3685032"/>
            <a:ext cx="2014057" cy="100584"/>
          </a:xfrm>
          <a:prstGeom prst="rect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38185" y="3995928"/>
            <a:ext cx="16848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2230"/>
                </a:solidFill>
                <a:latin typeface="Lexend"/>
              </a:rPr>
              <a:t>Professional expert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8185" y="4617720"/>
            <a:ext cx="16848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495468"/>
                </a:solidFill>
                <a:latin typeface="Source Sans 3"/>
              </a:rPr>
              <a:t>practice wisdom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88818" y="3685032"/>
            <a:ext cx="2014057" cy="14173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88818" y="3685032"/>
            <a:ext cx="2014057" cy="100584"/>
          </a:xfrm>
          <a:prstGeom prst="rect">
            <a:avLst/>
          </a:prstGeom>
          <a:solidFill>
            <a:srgbClr val="7A4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53410" y="3995928"/>
            <a:ext cx="16848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2230"/>
                </a:solidFill>
                <a:latin typeface="Lexend"/>
              </a:rPr>
              <a:t>Carer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3410" y="4617720"/>
            <a:ext cx="16848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495468"/>
                </a:solidFill>
                <a:latin typeface="Source Sans 3"/>
              </a:rPr>
              <a:t>support worker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04044" y="3685032"/>
            <a:ext cx="2014057" cy="14173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04044" y="3685032"/>
            <a:ext cx="2014057" cy="100584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68636" y="3995928"/>
            <a:ext cx="16848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2230"/>
                </a:solidFill>
                <a:latin typeface="Lexend"/>
              </a:rPr>
              <a:t>Inquirer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68636" y="4617720"/>
            <a:ext cx="16848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495468"/>
                </a:solidFill>
                <a:latin typeface="Source Sans 3"/>
              </a:rPr>
              <a:t>critical friend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19269" y="3685032"/>
            <a:ext cx="2014057" cy="14173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19269" y="3685032"/>
            <a:ext cx="2014057" cy="100584"/>
          </a:xfrm>
          <a:prstGeom prst="rect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83861" y="3995928"/>
            <a:ext cx="16848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2230"/>
                </a:solidFill>
                <a:latin typeface="Lexend"/>
              </a:rPr>
              <a:t>Coordinator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83861" y="4617720"/>
            <a:ext cx="16848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495468"/>
                </a:solidFill>
                <a:latin typeface="Source Sans 3"/>
              </a:rPr>
              <a:t>producer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53212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495468"/>
                </a:solidFill>
                <a:latin typeface="Source Sans 3"/>
              </a:rPr>
              <a:t>One person may hold several roles — and </a:t>
            </a:r>
            <a:r>
              <a:rPr sz="1350" b="1" i="1">
                <a:solidFill>
                  <a:srgbClr val="1A2230"/>
                </a:solidFill>
                <a:latin typeface="Source Sans 3"/>
              </a:rPr>
              <a:t>living experts, carers and professional experts sit as equals.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95468"/>
                </a:solidFill>
                <a:latin typeface="Source Sans 3"/>
              </a:rPr>
              <a:t>Rare Diseases NSW Co-Design Workshop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1206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0A82E"/>
                </a:solidFill>
                <a:latin typeface="Lexend"/>
              </a:rPr>
              <a:t>PEOPLE · DEPTH OF PARTICIPATION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50976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A2230"/>
                </a:solidFill>
                <a:latin typeface="Lexend"/>
              </a:rPr>
              <a:t>Shades of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495468"/>
                </a:solidFill>
                <a:latin typeface="Source Sans 3"/>
              </a:rPr>
              <a:t>How deeply do people participate — and across which kinds of knowledge? Different decisions sit at different shades.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2359152"/>
            <a:ext cx="20329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1A2230"/>
                </a:solidFill>
                <a:latin typeface="Lexend"/>
              </a:rPr>
              <a:t>Lived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4507" y="2359152"/>
            <a:ext cx="20329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1A2230"/>
                </a:solidFill>
                <a:latin typeface="Lexend"/>
              </a:rPr>
              <a:t>Practice wisdom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7447" y="2359152"/>
            <a:ext cx="20329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1A2230"/>
                </a:solidFill>
                <a:latin typeface="Lexend"/>
              </a:rPr>
              <a:t>Research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0387" y="2359152"/>
            <a:ext cx="20329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1" i="0">
                <a:solidFill>
                  <a:srgbClr val="1A2230"/>
                </a:solidFill>
                <a:latin typeface="Lexend"/>
              </a:rPr>
              <a:t>Cultural knowledge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34640"/>
            <a:ext cx="2633472" cy="512064"/>
          </a:xfrm>
          <a:prstGeom prst="roundRect">
            <a:avLst>
              <a:gd name="adj" fmla="val 12000"/>
            </a:avLst>
          </a:prstGeom>
          <a:solidFill>
            <a:srgbClr val="D7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834640"/>
            <a:ext cx="2286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2230"/>
                </a:solidFill>
                <a:latin typeface="Lexend"/>
              </a:rPr>
              <a:t>Talk 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2834640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17453" y="2990088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7F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9371" y="2834640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0393" y="2990088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7F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22311" y="2834640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3333" y="2990088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7F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55251" y="2834640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16273" y="2990088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7F0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438144"/>
            <a:ext cx="2633472" cy="512064"/>
          </a:xfrm>
          <a:prstGeom prst="roundRect">
            <a:avLst>
              <a:gd name="adj" fmla="val 12000"/>
            </a:avLst>
          </a:prstGeom>
          <a:solidFill>
            <a:srgbClr val="AEE2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438144"/>
            <a:ext cx="2286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2230"/>
                </a:solidFill>
                <a:latin typeface="Lexend"/>
              </a:rPr>
              <a:t>Listen &amp; respond 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56432" y="3438144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17453" y="3593592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EE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9371" y="3438144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50393" y="3593592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EE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22311" y="3438144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83333" y="3593592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EE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55251" y="3438144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416273" y="3593592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EE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8368" y="4041648"/>
            <a:ext cx="2633472" cy="512064"/>
          </a:xfrm>
          <a:prstGeom prst="roundRect">
            <a:avLst>
              <a:gd name="adj" fmla="val 12000"/>
            </a:avLst>
          </a:prstGeom>
          <a:solidFill>
            <a:srgbClr val="74C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4041648"/>
            <a:ext cx="2286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A2230"/>
                </a:solidFill>
                <a:latin typeface="Lexend"/>
              </a:rPr>
              <a:t>Collaborate with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56432" y="4041648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317453" y="419709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4CE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489371" y="4041648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50393" y="419709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4CE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522311" y="4041648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83333" y="419709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4CE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555251" y="4041648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416273" y="419709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4CE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8368" y="4645152"/>
            <a:ext cx="2633472" cy="512064"/>
          </a:xfrm>
          <a:prstGeom prst="roundRect">
            <a:avLst>
              <a:gd name="adj" fmla="val 12000"/>
            </a:avLst>
          </a:prstGeom>
          <a:solidFill>
            <a:srgbClr val="3FB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7" y="4645152"/>
            <a:ext cx="2286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Lexend"/>
              </a:rPr>
              <a:t>Make decisions together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56432" y="4645152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17453" y="4800600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FB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489371" y="4645152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50393" y="4800600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FB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522311" y="4645152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383333" y="4800600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FB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555251" y="4645152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416273" y="4800600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FB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58368" y="5248656"/>
            <a:ext cx="2633472" cy="512064"/>
          </a:xfrm>
          <a:prstGeom prst="roundRect">
            <a:avLst>
              <a:gd name="adj" fmla="val 12000"/>
            </a:avLst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7" y="5248656"/>
            <a:ext cx="2286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Lexend"/>
              </a:rPr>
              <a:t>Delegate authority to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56432" y="5248656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317453" y="5404104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A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489371" y="5248656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350393" y="5404104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A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522311" y="5248656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383333" y="5404104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A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555251" y="5248656"/>
            <a:ext cx="1923211" cy="512064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416273" y="5404104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A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" y="5925312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1">
                <a:solidFill>
                  <a:srgbClr val="1A2230"/>
                </a:solidFill>
                <a:latin typeface="Source Sans 3"/>
              </a:rPr>
              <a:t>Deeper isn't always better — </a:t>
            </a:r>
            <a:r>
              <a:rPr sz="1250" b="0" i="1">
                <a:solidFill>
                  <a:srgbClr val="495468"/>
                </a:solidFill>
                <a:latin typeface="Source Sans 3"/>
              </a:rPr>
              <a:t>match the shade to the decision, the stakes and what people have capacity for.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61813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495468"/>
                </a:solidFill>
                <a:latin typeface="Source Sans 3"/>
              </a:rPr>
              <a:t>After Blomkamp (2025), Shades of Co-Design.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1206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A64A"/>
                </a:solidFill>
                <a:latin typeface="Lexend"/>
              </a:rPr>
              <a:t>PROCESS · DOMAIN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50976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A2230"/>
                </a:solidFill>
                <a:latin typeface="Lexend"/>
              </a:rPr>
              <a:t>How will we approach this?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495468"/>
                </a:solidFill>
                <a:latin typeface="Source Sans 3"/>
              </a:rPr>
              <a:t>Co-design moves through phases — each needs care, not just the 'doing' in the middle.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23160"/>
            <a:ext cx="2526715" cy="3200400"/>
          </a:xfrm>
          <a:prstGeom prst="roundRect">
            <a:avLst>
              <a:gd name="adj" fmla="val 5000"/>
            </a:avLst>
          </a:prstGeom>
          <a:solidFill>
            <a:srgbClr val="E5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697479"/>
            <a:ext cx="457200" cy="457200"/>
          </a:xfrm>
          <a:prstGeom prst="ellipse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Lexen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20695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2230"/>
                </a:solidFill>
                <a:latin typeface="Lexend"/>
              </a:rPr>
              <a:t>Invitation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201465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A2230"/>
                </a:solidFill>
                <a:latin typeface="Source Sans 3"/>
              </a:rPr>
              <a:t>Who we ask, how, and why — the first act of power-sharing.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4754879"/>
            <a:ext cx="2014651" cy="0"/>
          </a:xfrm>
          <a:prstGeom prst="bentConnector3">
            <a:avLst/>
          </a:prstGeom>
          <a:ln w="9525">
            <a:solidFill>
              <a:srgbClr val="1FA6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4873752"/>
            <a:ext cx="201465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FA64A"/>
                </a:solidFill>
                <a:latin typeface="Source Sans 3"/>
              </a:rPr>
              <a:t>Rare disease: </a:t>
            </a:r>
            <a:r>
              <a:rPr sz="1100" b="0" i="0">
                <a:solidFill>
                  <a:srgbClr val="495468"/>
                </a:solidFill>
                <a:latin typeface="Source Sans 3"/>
              </a:rPr>
              <a:t>Reach scattered families early; make it genuinely easy to say yes.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1115" y="2423160"/>
            <a:ext cx="2526715" cy="3200400"/>
          </a:xfrm>
          <a:prstGeom prst="roundRect">
            <a:avLst>
              <a:gd name="adj" fmla="val 5000"/>
            </a:avLst>
          </a:prstGeom>
          <a:solidFill>
            <a:srgbClr val="E5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97147" y="2697479"/>
            <a:ext cx="457200" cy="457200"/>
          </a:xfrm>
          <a:prstGeom prst="ellipse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7147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Lexen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7147" y="3337560"/>
            <a:ext cx="20695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2230"/>
                </a:solidFill>
                <a:latin typeface="Lexend"/>
              </a:rPr>
              <a:t>Preparation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7147" y="3794760"/>
            <a:ext cx="201465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A2230"/>
                </a:solidFill>
                <a:latin typeface="Source Sans 3"/>
              </a:rPr>
              <a:t>Building trust, safety and readiness before the work begins.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97147" y="4754879"/>
            <a:ext cx="2014652" cy="0"/>
          </a:xfrm>
          <a:prstGeom prst="bentConnector3">
            <a:avLst/>
          </a:prstGeom>
          <a:ln w="9525">
            <a:solidFill>
              <a:srgbClr val="1FA6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97147" y="4873752"/>
            <a:ext cx="201465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FA64A"/>
                </a:solidFill>
                <a:latin typeface="Source Sans 3"/>
              </a:rPr>
              <a:t>Rare disease: </a:t>
            </a:r>
            <a:r>
              <a:rPr sz="1100" b="0" i="0">
                <a:solidFill>
                  <a:srgbClr val="495468"/>
                </a:solidFill>
                <a:latin typeface="Source Sans 3"/>
              </a:rPr>
              <a:t>Plain-language info; flexible formats; support to take part.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863" y="2423160"/>
            <a:ext cx="2526715" cy="3200400"/>
          </a:xfrm>
          <a:prstGeom prst="roundRect">
            <a:avLst>
              <a:gd name="adj" fmla="val 5000"/>
            </a:avLst>
          </a:prstGeom>
          <a:solidFill>
            <a:srgbClr val="E5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9895" y="2697479"/>
            <a:ext cx="457200" cy="457200"/>
          </a:xfrm>
          <a:prstGeom prst="ellipse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895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Lexen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895" y="3337560"/>
            <a:ext cx="20695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2230"/>
                </a:solidFill>
                <a:latin typeface="Lexend"/>
              </a:rPr>
              <a:t>Navigation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9895" y="3794760"/>
            <a:ext cx="201465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A2230"/>
                </a:solidFill>
                <a:latin typeface="Source Sans 3"/>
              </a:rPr>
              <a:t>Doing the work together, adapting as we learn.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79895" y="4754879"/>
            <a:ext cx="2014652" cy="0"/>
          </a:xfrm>
          <a:prstGeom prst="bentConnector3">
            <a:avLst/>
          </a:prstGeom>
          <a:ln w="9525">
            <a:solidFill>
              <a:srgbClr val="1FA6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79895" y="4873752"/>
            <a:ext cx="201465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FA64A"/>
                </a:solidFill>
                <a:latin typeface="Source Sans 3"/>
              </a:rPr>
              <a:t>Rare disease: </a:t>
            </a:r>
            <a:r>
              <a:rPr sz="1100" b="0" i="0">
                <a:solidFill>
                  <a:srgbClr val="495468"/>
                </a:solidFill>
                <a:latin typeface="Source Sans 3"/>
              </a:rPr>
              <a:t>Hold space for distress, complexity and changing health.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611" y="2423160"/>
            <a:ext cx="2526715" cy="3200400"/>
          </a:xfrm>
          <a:prstGeom prst="roundRect">
            <a:avLst>
              <a:gd name="adj" fmla="val 5000"/>
            </a:avLst>
          </a:prstGeom>
          <a:solidFill>
            <a:srgbClr val="E5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62643" y="2697479"/>
            <a:ext cx="457200" cy="457200"/>
          </a:xfrm>
          <a:prstGeom prst="ellipse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643" y="269747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Lexen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643" y="3337560"/>
            <a:ext cx="20695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A2230"/>
                </a:solidFill>
                <a:latin typeface="Lexend"/>
              </a:rPr>
              <a:t>Completion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643" y="3794760"/>
            <a:ext cx="201465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1A2230"/>
                </a:solidFill>
                <a:latin typeface="Source Sans 3"/>
              </a:rPr>
              <a:t>Closing well, sharing back, and sustaining relationships.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62643" y="4754879"/>
            <a:ext cx="2014652" cy="0"/>
          </a:xfrm>
          <a:prstGeom prst="bentConnector3">
            <a:avLst/>
          </a:prstGeom>
          <a:ln w="9525">
            <a:solidFill>
              <a:srgbClr val="1FA6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262643" y="4873752"/>
            <a:ext cx="201465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FA64A"/>
                </a:solidFill>
                <a:latin typeface="Source Sans 3"/>
              </a:rPr>
              <a:t>Rare disease: </a:t>
            </a:r>
            <a:r>
              <a:rPr sz="1100" b="0" i="0">
                <a:solidFill>
                  <a:srgbClr val="495468"/>
                </a:solidFill>
                <a:latin typeface="Source Sans 3"/>
              </a:rPr>
              <a:t>Show what changed; don't disappear — keep the loop open.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95468"/>
                </a:solidFill>
                <a:latin typeface="Source Sans 3"/>
              </a:rPr>
              <a:t>Rare Diseases NSW Co-Design Workshop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1206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8591C"/>
                </a:solidFill>
                <a:latin typeface="Lexend"/>
              </a:rPr>
              <a:t>PRACTICE · DOMAIN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50976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A2230"/>
                </a:solidFill>
                <a:latin typeface="Lexend"/>
              </a:rPr>
              <a:t>What will we use?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495468"/>
                </a:solidFill>
                <a:latin typeface="Source Sans 3"/>
              </a:rPr>
              <a:t>Our toolkit, from the concrete to the conceptual. Choose methods that fit the people and the moment — not the other way around.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38328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E8591C"/>
                </a:solidFill>
                <a:latin typeface="Source Sans 3"/>
              </a:rPr>
              <a:t>For rare disease, favour: </a:t>
            </a:r>
            <a:r>
              <a:rPr sz="1400" b="0" i="0">
                <a:solidFill>
                  <a:srgbClr val="495468"/>
                </a:solidFill>
                <a:latin typeface="Source Sans 3"/>
              </a:rPr>
              <a:t>low-bandwidth, remote-friendly, asynchronous methods; storytelling; and tools families can use from home, in their own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828800"/>
            <a:ext cx="5589727" cy="960120"/>
          </a:xfrm>
          <a:prstGeom prst="roundRect">
            <a:avLst>
              <a:gd name="adj" fmla="val 5000"/>
            </a:avLst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8" y="1975104"/>
            <a:ext cx="50410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Lexend"/>
              </a:rPr>
              <a:t>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340864"/>
            <a:ext cx="5041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FFFFFF"/>
                </a:solidFill>
                <a:latin typeface="Source Sans 3"/>
              </a:rPr>
              <a:t>The tangible things we pick up — templates, canvases, prompts, prototypes.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898648"/>
            <a:ext cx="5589727" cy="960120"/>
          </a:xfrm>
          <a:prstGeom prst="roundRect">
            <a:avLst>
              <a:gd name="adj" fmla="val 5000"/>
            </a:avLst>
          </a:prstGeom>
          <a:solidFill>
            <a:srgbClr val="EE7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3044952"/>
            <a:ext cx="50410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FFFFFF"/>
                </a:solidFill>
                <a:latin typeface="Lexend"/>
              </a:rPr>
              <a:t>Techniques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3410712"/>
            <a:ext cx="5041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FFFFFF"/>
                </a:solidFill>
                <a:latin typeface="Source Sans 3"/>
              </a:rPr>
              <a:t>Specific moves — interviewing, journey mapping, sense-making.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968496"/>
            <a:ext cx="5589727" cy="960120"/>
          </a:xfrm>
          <a:prstGeom prst="roundRect">
            <a:avLst>
              <a:gd name="adj" fmla="val 5000"/>
            </a:avLst>
          </a:prstGeom>
          <a:solidFill>
            <a:srgbClr val="F29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4114800"/>
            <a:ext cx="50410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A2230"/>
                </a:solidFill>
                <a:latin typeface="Lexend"/>
              </a:rPr>
              <a:t>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80560"/>
            <a:ext cx="5041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1A2230"/>
                </a:solidFill>
                <a:latin typeface="Source Sans 3"/>
              </a:rPr>
              <a:t>Bundled approaches — participatory design, action research.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5038344"/>
            <a:ext cx="5589727" cy="960120"/>
          </a:xfrm>
          <a:prstGeom prst="roundRect">
            <a:avLst>
              <a:gd name="adj" fmla="val 5000"/>
            </a:avLst>
          </a:prstGeom>
          <a:solidFill>
            <a:srgbClr val="F7B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5184648"/>
            <a:ext cx="50410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A2230"/>
                </a:solidFill>
                <a:latin typeface="Lexend"/>
              </a:rPr>
              <a:t>Principles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5550408"/>
            <a:ext cx="5041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80" b="0" i="0">
                <a:solidFill>
                  <a:srgbClr val="1A2230"/>
                </a:solidFill>
                <a:latin typeface="Source Sans 3"/>
              </a:rPr>
              <a:t>The why beneath the how — what good practice looks like.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95468"/>
                </a:solidFill>
                <a:latin typeface="Source Sans 3"/>
              </a:rPr>
              <a:t>Rare Diseases NSW Co-Design Workshop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7A4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1206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7A45D6"/>
                </a:solidFill>
                <a:latin typeface="Lexend"/>
              </a:rPr>
              <a:t>PLACE · DOMAIN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50976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A2230"/>
                </a:solidFill>
                <a:latin typeface="Lexend"/>
              </a:rPr>
              <a:t>Where does this fit?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4754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495468"/>
                </a:solidFill>
                <a:latin typeface="Source Sans 3"/>
              </a:rPr>
              <a:t>Co-design doesn't happen in a vacuum. 'Place' asks where our work lands — from the smallest signal to the whole system — so change actually sticks.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57600"/>
            <a:ext cx="47548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1" i="0">
                <a:solidFill>
                  <a:srgbClr val="7A45D6"/>
                </a:solidFill>
                <a:latin typeface="Source Sans 3"/>
              </a:rPr>
              <a:t>For rare disease, the 'system' is fragmented — </a:t>
            </a:r>
            <a:r>
              <a:rPr sz="1400" b="0" i="0">
                <a:solidFill>
                  <a:srgbClr val="495468"/>
                </a:solidFill>
                <a:latin typeface="Source Sans 3"/>
              </a:rPr>
              <a:t>health, genetics, disability, NDIS, education, research and community groups. Place asks how our work connects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828800"/>
            <a:ext cx="5589727" cy="932688"/>
          </a:xfrm>
          <a:prstGeom prst="roundRect">
            <a:avLst>
              <a:gd name="adj" fmla="val 6000"/>
            </a:avLst>
          </a:prstGeom>
          <a:solidFill>
            <a:srgbClr val="7A4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956816"/>
            <a:ext cx="5132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xend"/>
              </a:rPr>
              <a:t>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22576"/>
            <a:ext cx="5132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30" b="0" i="0">
                <a:solidFill>
                  <a:srgbClr val="FFFFFF"/>
                </a:solidFill>
                <a:latin typeface="Source Sans 3"/>
              </a:rPr>
              <a:t>Policies, funding, structures and the way the whole field 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852928"/>
            <a:ext cx="4949647" cy="932688"/>
          </a:xfrm>
          <a:prstGeom prst="roundRect">
            <a:avLst>
              <a:gd name="adj" fmla="val 6000"/>
            </a:avLst>
          </a:prstGeom>
          <a:solidFill>
            <a:srgbClr val="916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980944"/>
            <a:ext cx="44924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xend"/>
              </a:rPr>
              <a:t>Interactions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3346704"/>
            <a:ext cx="44924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30" b="0" i="0">
                <a:solidFill>
                  <a:srgbClr val="FFFFFF"/>
                </a:solidFill>
                <a:latin typeface="Source Sans 3"/>
              </a:rPr>
              <a:t>How people and services meet — the moments of contact and care.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877056"/>
            <a:ext cx="4309567" cy="932688"/>
          </a:xfrm>
          <a:prstGeom prst="roundRect">
            <a:avLst>
              <a:gd name="adj" fmla="val 6000"/>
            </a:avLst>
          </a:prstGeom>
          <a:solidFill>
            <a:srgbClr val="AC8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4005072"/>
            <a:ext cx="38523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2230"/>
                </a:solidFill>
                <a:latin typeface="Lexend"/>
              </a:rPr>
              <a:t>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370832"/>
            <a:ext cx="38523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30" b="0" i="0">
                <a:solidFill>
                  <a:srgbClr val="1A2230"/>
                </a:solidFill>
                <a:latin typeface="Source Sans 3"/>
              </a:rPr>
              <a:t>The services, tools and outputs people actually 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4901184"/>
            <a:ext cx="3669487" cy="932688"/>
          </a:xfrm>
          <a:prstGeom prst="roundRect">
            <a:avLst>
              <a:gd name="adj" fmla="val 6000"/>
            </a:avLst>
          </a:prstGeom>
          <a:solidFill>
            <a:srgbClr val="C9B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5029200"/>
            <a:ext cx="32122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2230"/>
                </a:solidFill>
                <a:latin typeface="Lexend"/>
              </a:rPr>
              <a:t>Symbols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5394960"/>
            <a:ext cx="32122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30" b="0" i="0">
                <a:solidFill>
                  <a:srgbClr val="1A2230"/>
                </a:solidFill>
                <a:latin typeface="Source Sans 3"/>
              </a:rPr>
              <a:t>Language, stories and meaning — what things signal and stand for.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95468"/>
                </a:solidFill>
                <a:latin typeface="Source Sans 3"/>
              </a:rPr>
              <a:t>Rare Diseases NSW Co-Design Workshop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5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512064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5243A"/>
                </a:solidFill>
                <a:latin typeface="Lexend"/>
              </a:rPr>
              <a:t>WHERE ARE WE?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50976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 i="0">
                <a:solidFill>
                  <a:srgbClr val="1A2230"/>
                </a:solidFill>
                <a:latin typeface="Lexend"/>
              </a:rPr>
              <a:t>The co-design maturity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5648" y="1965960"/>
            <a:ext cx="4937760" cy="640080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55648" y="196596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A2230"/>
                </a:solidFill>
                <a:latin typeface="Lexend"/>
              </a:rPr>
              <a:t>Flourish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7" y="2002536"/>
            <a:ext cx="35597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95468"/>
                </a:solidFill>
                <a:latin typeface="Source Sans 3"/>
              </a:rPr>
              <a:t>Evolving and spreading co-design across the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1481328" y="2715768"/>
            <a:ext cx="5486400" cy="640080"/>
          </a:xfrm>
          <a:prstGeom prst="rect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2715768"/>
            <a:ext cx="5486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exend"/>
              </a:rPr>
              <a:t>Integrate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7" y="2752344"/>
            <a:ext cx="35597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95468"/>
                </a:solidFill>
                <a:latin typeface="Source Sans 3"/>
              </a:rPr>
              <a:t>Adapting and embedding co-design in how we 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7008" y="3465576"/>
            <a:ext cx="6035040" cy="640080"/>
          </a:xfrm>
          <a:prstGeom prst="rect">
            <a:avLst/>
          </a:prstGeom>
          <a:solidFill>
            <a:srgbClr val="7A4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3465576"/>
            <a:ext cx="6035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exend"/>
              </a:rPr>
              <a:t>Apply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7" y="3502152"/>
            <a:ext cx="35597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95468"/>
                </a:solidFill>
                <a:latin typeface="Source Sans 3"/>
              </a:rPr>
              <a:t>Using co-design principles and practices in context.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4215383"/>
            <a:ext cx="6583680" cy="640080"/>
          </a:xfrm>
          <a:prstGeom prst="rect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215383"/>
            <a:ext cx="6583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exend"/>
              </a:rPr>
              <a:t>Understand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7" y="4251959"/>
            <a:ext cx="35597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95468"/>
                </a:solidFill>
                <a:latin typeface="Source Sans 3"/>
              </a:rPr>
              <a:t>Identifying the main parts of co-design and the value it delivers.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965192"/>
            <a:ext cx="7132320" cy="640080"/>
          </a:xfrm>
          <a:prstGeom prst="rect">
            <a:avLst/>
          </a:prstGeom>
          <a:solidFill>
            <a:srgbClr val="4A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65192"/>
            <a:ext cx="71323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exend"/>
              </a:rPr>
              <a:t>Explore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7" y="5001768"/>
            <a:ext cx="355975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95468"/>
                </a:solidFill>
                <a:latin typeface="Source Sans 3"/>
              </a:rPr>
              <a:t>Getting curious about co-design.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6072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2230"/>
                </a:solidFill>
                <a:latin typeface="Source Sans 3"/>
              </a:rPr>
              <a:t>Quick self-check: </a:t>
            </a:r>
            <a:r>
              <a:rPr sz="1350" b="0" i="1">
                <a:solidFill>
                  <a:srgbClr val="495468"/>
                </a:solidFill>
                <a:latin typeface="Source Sans 3"/>
              </a:rPr>
              <a:t>where is Rare Diseases NSW today — and where do we want to be?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1813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495468"/>
                </a:solidFill>
                <a:latin typeface="Source Sans 3"/>
              </a:rPr>
              <a:t>After Blomkamp / New Know How: Co-Design Maturity Model.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0A82E"/>
                </a:solidFill>
                <a:latin typeface="Lexend"/>
              </a:rPr>
              <a:t>HOW TO — TAKING THIS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exend"/>
              </a:rPr>
              <a:t>First steps for Rare Diseases NSW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3442106" cy="1554480"/>
          </a:xfrm>
          <a:prstGeom prst="roundRect">
            <a:avLst>
              <a:gd name="adj" fmla="val 6000"/>
            </a:avLst>
          </a:prstGeom>
          <a:solidFill>
            <a:srgbClr val="21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386584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0A82E"/>
                </a:solidFill>
                <a:latin typeface="Lexen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752344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xend"/>
              </a:rPr>
              <a:t>Capture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154680"/>
            <a:ext cx="28934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C2CCDA"/>
                </a:solidFill>
                <a:latin typeface="Source Sans 3"/>
              </a:rPr>
              <a:t>Turn our input into a 'Rare Diseases NSW co-design framework v0.1'.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4794" y="2148840"/>
            <a:ext cx="3442106" cy="1554480"/>
          </a:xfrm>
          <a:prstGeom prst="roundRect">
            <a:avLst>
              <a:gd name="adj" fmla="val 6000"/>
            </a:avLst>
          </a:prstGeom>
          <a:solidFill>
            <a:srgbClr val="21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7402" y="2386584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0A82E"/>
                </a:solidFill>
                <a:latin typeface="Lexen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402" y="2752344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xend"/>
              </a:rPr>
              <a:t>Form the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402" y="3154680"/>
            <a:ext cx="28934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C2CCDA"/>
                </a:solidFill>
                <a:latin typeface="Source Sans 3"/>
              </a:rPr>
              <a:t>Confirm the co-design team and who holds which role.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1220" y="2148840"/>
            <a:ext cx="3442106" cy="1554480"/>
          </a:xfrm>
          <a:prstGeom prst="roundRect">
            <a:avLst>
              <a:gd name="adj" fmla="val 6000"/>
            </a:avLst>
          </a:prstGeom>
          <a:solidFill>
            <a:srgbClr val="21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3828" y="2386584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0A82E"/>
                </a:solidFill>
                <a:latin typeface="Lexen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3828" y="2752344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xend"/>
              </a:rPr>
              <a:t>Choose a first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3828" y="3154680"/>
            <a:ext cx="28934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C2CCDA"/>
                </a:solidFill>
                <a:latin typeface="Source Sans 3"/>
              </a:rPr>
              <a:t>Agree one real, bounded challenge to pilot together.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977639"/>
            <a:ext cx="3442106" cy="1554480"/>
          </a:xfrm>
          <a:prstGeom prst="roundRect">
            <a:avLst>
              <a:gd name="adj" fmla="val 6000"/>
            </a:avLst>
          </a:prstGeom>
          <a:solidFill>
            <a:srgbClr val="21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4215383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0A82E"/>
                </a:solidFill>
                <a:latin typeface="Lexen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581144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xend"/>
              </a:rPr>
              <a:t>Set our shades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983479"/>
            <a:ext cx="28934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C2CCDA"/>
                </a:solidFill>
                <a:latin typeface="Source Sans 3"/>
              </a:rPr>
              <a:t>Decide who's consulted, who collaborates, who decides.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4794" y="3977639"/>
            <a:ext cx="3442106" cy="1554480"/>
          </a:xfrm>
          <a:prstGeom prst="roundRect">
            <a:avLst>
              <a:gd name="adj" fmla="val 6000"/>
            </a:avLst>
          </a:prstGeom>
          <a:solidFill>
            <a:srgbClr val="21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7402" y="4215383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0A82E"/>
                </a:solidFill>
                <a:latin typeface="Lexend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402" y="4581144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xend"/>
              </a:rPr>
              <a:t>Resource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7402" y="4983479"/>
            <a:ext cx="28934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C2CCDA"/>
                </a:solidFill>
                <a:latin typeface="Source Sans 3"/>
              </a:rPr>
              <a:t>Fund and pay lived-experience contributors; build in support.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1220" y="3977639"/>
            <a:ext cx="3442106" cy="1554480"/>
          </a:xfrm>
          <a:prstGeom prst="roundRect">
            <a:avLst>
              <a:gd name="adj" fmla="val 6000"/>
            </a:avLst>
          </a:prstGeom>
          <a:solidFill>
            <a:srgbClr val="21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3828" y="4215383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0A82E"/>
                </a:solidFill>
                <a:latin typeface="Lexend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3828" y="4581144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exend"/>
              </a:rPr>
              <a:t>Learn &amp; adapt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3828" y="4983479"/>
            <a:ext cx="28934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C2CCDA"/>
                </a:solidFill>
                <a:latin typeface="Source Sans 3"/>
              </a:rPr>
              <a:t>Schedule check-ins; revisit the framework as we go.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495468"/>
                </a:solidFill>
                <a:latin typeface="Source Sans 3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11696"/>
            <a:ext cx="3047923" cy="146304"/>
          </a:xfrm>
          <a:prstGeom prst="rect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923" y="6711696"/>
            <a:ext cx="3047923" cy="146304"/>
          </a:xfrm>
          <a:prstGeom prst="rect">
            <a:avLst/>
          </a:prstGeom>
          <a:solidFill>
            <a:srgbClr val="1FA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847" y="6711696"/>
            <a:ext cx="3047923" cy="146304"/>
          </a:xfrm>
          <a:prstGeom prst="rect">
            <a:avLst/>
          </a:prstGeom>
          <a:solidFill>
            <a:srgbClr val="E85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771" y="6711696"/>
            <a:ext cx="3047923" cy="146304"/>
          </a:xfrm>
          <a:prstGeom prst="rect">
            <a:avLst/>
          </a:prstGeom>
          <a:solidFill>
            <a:srgbClr val="7A4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202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Lexen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63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CED6E2"/>
                </a:solidFill>
                <a:latin typeface="Source Sans 3"/>
              </a:rPr>
              <a:t>Designed </a:t>
            </a:r>
            <a:r>
              <a:rPr sz="2000" b="1" i="0">
                <a:solidFill>
                  <a:srgbClr val="E0A82E"/>
                </a:solidFill>
                <a:latin typeface="Source Sans 3"/>
              </a:rPr>
              <a:t>with</a:t>
            </a:r>
            <a:r>
              <a:rPr sz="2000" b="0" i="0">
                <a:solidFill>
                  <a:srgbClr val="CED6E2"/>
                </a:solidFill>
                <a:latin typeface="Source Sans 3"/>
              </a:rPr>
              <a:t> the rare disease community — not for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4160520"/>
            <a:ext cx="3840480" cy="0"/>
          </a:xfrm>
          <a:prstGeom prst="bentConnector3">
            <a:avLst/>
          </a:prstGeom>
          <a:ln w="19050">
            <a:solidFill>
              <a:srgbClr val="2135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Source Sans 3"/>
              </a:rPr>
              <a:t>Rare NSW · Kris Pierce Consulting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9DAABD"/>
                </a:solidFill>
                <a:latin typeface="Source Sans 3"/>
              </a:rPr>
              <a:t>Framework adapted from Emma Blomkamp's Systemic Design Practice &amp; New Know How (Shades of Co-Design, Co-Design Teams, Maturity Model). CC BY-NC.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